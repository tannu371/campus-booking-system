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6576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2"/>
          <p:cNvSpPr txBox="1"/>
          <p:nvPr/>
        </p:nvSpPr>
        <p:spPr>
          <a:xfrm>
            <a:off x="701039" y="758634"/>
            <a:ext cx="10058401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800">
                <a:solidFill>
                  <a:srgbClr val="14B8A6"/>
                </a:solidFill>
              </a:defRPr>
            </a:lvl1pPr>
          </a:lstStyle>
          <a:p>
            <a:pPr/>
            <a:r>
              <a:t>CAMPUS BOOKING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701039" y="1270619"/>
            <a:ext cx="1078992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Room &amp; Facility Booking System</a:t>
            </a:r>
          </a:p>
        </p:txBody>
      </p:sp>
      <p:sp>
        <p:nvSpPr>
          <p:cNvPr id="23" name="Text 4"/>
          <p:cNvSpPr txBox="1"/>
          <p:nvPr/>
        </p:nvSpPr>
        <p:spPr>
          <a:xfrm>
            <a:off x="701039" y="2255833"/>
            <a:ext cx="10515601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700">
                <a:solidFill>
                  <a:srgbClr val="CBD5E1"/>
                </a:solidFill>
              </a:defRPr>
            </a:lvl1pPr>
          </a:lstStyle>
          <a:p>
            <a:pPr/>
            <a:r>
              <a:t>Conflict-free scheduling, role-based governance, and audit-grade security — for the modern campus.</a:t>
            </a:r>
          </a:p>
        </p:txBody>
      </p:sp>
      <p:sp>
        <p:nvSpPr>
          <p:cNvPr id="24" name="Shape 5"/>
          <p:cNvSpPr/>
          <p:nvPr/>
        </p:nvSpPr>
        <p:spPr>
          <a:xfrm>
            <a:off x="652203" y="3160406"/>
            <a:ext cx="1463041" cy="411481"/>
          </a:xfrm>
          <a:prstGeom prst="roundRect">
            <a:avLst>
              <a:gd name="adj" fmla="val 17778"/>
            </a:avLst>
          </a:prstGeom>
          <a:solidFill>
            <a:srgbClr val="19376D"/>
          </a:solidFill>
          <a:ln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6"/>
          <p:cNvSpPr txBox="1"/>
          <p:nvPr/>
        </p:nvSpPr>
        <p:spPr>
          <a:xfrm>
            <a:off x="652203" y="3299012"/>
            <a:ext cx="14630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React + Vite</a:t>
            </a:r>
          </a:p>
        </p:txBody>
      </p:sp>
      <p:sp>
        <p:nvSpPr>
          <p:cNvPr id="26" name="Shape 7"/>
          <p:cNvSpPr/>
          <p:nvPr/>
        </p:nvSpPr>
        <p:spPr>
          <a:xfrm>
            <a:off x="2252403" y="3160406"/>
            <a:ext cx="1965961" cy="411481"/>
          </a:xfrm>
          <a:prstGeom prst="roundRect">
            <a:avLst>
              <a:gd name="adj" fmla="val 17778"/>
            </a:avLst>
          </a:prstGeom>
          <a:solidFill>
            <a:srgbClr val="19376D"/>
          </a:solidFill>
          <a:ln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8"/>
          <p:cNvSpPr txBox="1"/>
          <p:nvPr/>
        </p:nvSpPr>
        <p:spPr>
          <a:xfrm>
            <a:off x="2252403" y="3299012"/>
            <a:ext cx="19659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Node.js + Express</a:t>
            </a:r>
          </a:p>
        </p:txBody>
      </p:sp>
      <p:sp>
        <p:nvSpPr>
          <p:cNvPr id="28" name="Shape 9"/>
          <p:cNvSpPr/>
          <p:nvPr/>
        </p:nvSpPr>
        <p:spPr>
          <a:xfrm>
            <a:off x="4355523" y="3160406"/>
            <a:ext cx="2066545" cy="411481"/>
          </a:xfrm>
          <a:prstGeom prst="roundRect">
            <a:avLst>
              <a:gd name="adj" fmla="val 17778"/>
            </a:avLst>
          </a:prstGeom>
          <a:solidFill>
            <a:srgbClr val="19376D"/>
          </a:solidFill>
          <a:ln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0"/>
          <p:cNvSpPr txBox="1"/>
          <p:nvPr/>
        </p:nvSpPr>
        <p:spPr>
          <a:xfrm>
            <a:off x="4355523" y="3299012"/>
            <a:ext cx="206654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MongoDB + Mongoose</a:t>
            </a:r>
          </a:p>
        </p:txBody>
      </p:sp>
      <p:sp>
        <p:nvSpPr>
          <p:cNvPr id="30" name="Shape 11"/>
          <p:cNvSpPr/>
          <p:nvPr/>
        </p:nvSpPr>
        <p:spPr>
          <a:xfrm>
            <a:off x="6559227" y="3160406"/>
            <a:ext cx="1060705" cy="411481"/>
          </a:xfrm>
          <a:prstGeom prst="roundRect">
            <a:avLst>
              <a:gd name="adj" fmla="val 17778"/>
            </a:avLst>
          </a:prstGeom>
          <a:solidFill>
            <a:srgbClr val="19376D"/>
          </a:solidFill>
          <a:ln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2"/>
          <p:cNvSpPr txBox="1"/>
          <p:nvPr/>
        </p:nvSpPr>
        <p:spPr>
          <a:xfrm>
            <a:off x="6559227" y="3299012"/>
            <a:ext cx="106070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JWT Auth</a:t>
            </a:r>
          </a:p>
        </p:txBody>
      </p:sp>
      <p:sp>
        <p:nvSpPr>
          <p:cNvPr id="32" name="Shape 13"/>
          <p:cNvSpPr/>
          <p:nvPr/>
        </p:nvSpPr>
        <p:spPr>
          <a:xfrm>
            <a:off x="7757091" y="3160406"/>
            <a:ext cx="1865377" cy="411481"/>
          </a:xfrm>
          <a:prstGeom prst="roundRect">
            <a:avLst>
              <a:gd name="adj" fmla="val 17778"/>
            </a:avLst>
          </a:prstGeom>
          <a:solidFill>
            <a:srgbClr val="19376D"/>
          </a:solidFill>
          <a:ln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4"/>
          <p:cNvSpPr txBox="1"/>
          <p:nvPr/>
        </p:nvSpPr>
        <p:spPr>
          <a:xfrm>
            <a:off x="7757091" y="3299012"/>
            <a:ext cx="186537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Jest + Supertest</a:t>
            </a:r>
          </a:p>
        </p:txBody>
      </p:sp>
      <p:sp>
        <p:nvSpPr>
          <p:cNvPr id="34" name="Text 15"/>
          <p:cNvSpPr txBox="1"/>
          <p:nvPr/>
        </p:nvSpPr>
        <p:spPr>
          <a:xfrm>
            <a:off x="609600" y="4035298"/>
            <a:ext cx="10972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4B8A6"/>
                </a:solidFill>
              </a:defRPr>
            </a:pPr>
            <a:r>
              <a:t>Production-focused</a:t>
            </a:r>
            <a:r>
              <a:rPr b="0">
                <a:solidFill>
                  <a:srgbClr val="6B7280"/>
                </a:solidFill>
              </a:rPr>
              <a:t>   ·   </a:t>
            </a:r>
            <a:r>
              <a:t>246 automated tests</a:t>
            </a:r>
            <a:r>
              <a:rPr b="0">
                <a:solidFill>
                  <a:srgbClr val="6B7280"/>
                </a:solidFill>
              </a:rPr>
              <a:t>   ·   </a:t>
            </a:r>
            <a:r>
              <a:t>18 security controls</a:t>
            </a:r>
          </a:p>
        </p:txBody>
      </p:sp>
      <p:sp>
        <p:nvSpPr>
          <p:cNvPr id="35" name="Text 16"/>
          <p:cNvSpPr txBox="1"/>
          <p:nvPr/>
        </p:nvSpPr>
        <p:spPr>
          <a:xfrm>
            <a:off x="609599" y="4683305"/>
            <a:ext cx="10972801" cy="158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Presented by </a:t>
            </a:r>
          </a:p>
          <a:p>
            <a:pPr>
              <a:defRPr sz="1300">
                <a:solidFill>
                  <a:srgbClr val="94A3B8"/>
                </a:solidFill>
              </a:defRPr>
            </a:pPr>
          </a:p>
          <a:p>
            <a:pPr lvl="1">
              <a:defRPr sz="1300">
                <a:solidFill>
                  <a:srgbClr val="94A3B8"/>
                </a:solidFill>
              </a:defRPr>
            </a:pPr>
            <a:r>
              <a:t>22JE1013 Tannu Kumari </a:t>
            </a:r>
          </a:p>
          <a:p>
            <a:pPr lvl="1">
              <a:defRPr sz="1300">
                <a:solidFill>
                  <a:srgbClr val="94A3B8"/>
                </a:solidFill>
              </a:defRPr>
            </a:pPr>
            <a:r>
              <a:t>22JE1051 Vishnu Vardhan</a:t>
            </a:r>
          </a:p>
          <a:p>
            <a:pPr lvl="1">
              <a:defRPr sz="1300">
                <a:solidFill>
                  <a:srgbClr val="94A3B8"/>
                </a:solidFill>
              </a:defRPr>
            </a:pPr>
            <a:r>
              <a:t>22JE1023 U Sai Hemanth</a:t>
            </a:r>
          </a:p>
          <a:p>
            <a:pPr lvl="1">
              <a:defRPr sz="1300">
                <a:solidFill>
                  <a:srgbClr val="94A3B8"/>
                </a:solidFill>
              </a:defRPr>
            </a:pPr>
            <a:r>
              <a:t>22JE0904 Shinagam Chinna</a:t>
            </a:r>
          </a:p>
          <a:p>
            <a:pPr lvl="1">
              <a:defRPr sz="1300">
                <a:solidFill>
                  <a:srgbClr val="94A3B8"/>
                </a:solidFill>
              </a:defRPr>
            </a:pP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Repo:  github.com/tannu371/campus-booking-system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Problem and What We Built</a:t>
            </a:r>
          </a:p>
        </p:txBody>
      </p:sp>
      <p:sp>
        <p:nvSpPr>
          <p:cNvPr id="39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Turning manual room-booking chaos into a governed, auditable workflow</a:t>
            </a:r>
          </a:p>
        </p:txBody>
      </p:sp>
      <p:sp>
        <p:nvSpPr>
          <p:cNvPr id="40" name="Shap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4"/>
          <p:cNvSpPr txBox="1"/>
          <p:nvPr/>
        </p:nvSpPr>
        <p:spPr>
          <a:xfrm>
            <a:off x="822959" y="1887527"/>
            <a:ext cx="4846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200">
                <a:solidFill>
                  <a:srgbClr val="991B1B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42" name="Text 5"/>
          <p:cNvSpPr txBox="1"/>
          <p:nvPr/>
        </p:nvSpPr>
        <p:spPr>
          <a:xfrm>
            <a:off x="822959" y="2310130"/>
            <a:ext cx="484632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Manual booking doesn't scale.</a:t>
            </a:r>
          </a:p>
        </p:txBody>
      </p:sp>
      <p:sp>
        <p:nvSpPr>
          <p:cNvPr id="43" name="Shape 6"/>
          <p:cNvSpPr/>
          <p:nvPr/>
        </p:nvSpPr>
        <p:spPr>
          <a:xfrm>
            <a:off x="822960" y="2889504"/>
            <a:ext cx="256033" cy="256033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7"/>
          <p:cNvSpPr txBox="1"/>
          <p:nvPr/>
        </p:nvSpPr>
        <p:spPr>
          <a:xfrm>
            <a:off x="822960" y="2922840"/>
            <a:ext cx="2560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45" name="Text 8"/>
          <p:cNvSpPr txBox="1"/>
          <p:nvPr/>
        </p:nvSpPr>
        <p:spPr>
          <a:xfrm>
            <a:off x="1188719" y="3031666"/>
            <a:ext cx="4572001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Double-booked rooms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100">
                <a:solidFill>
                  <a:srgbClr val="6B7280"/>
                </a:solidFill>
              </a:rPr>
              <a:t>Email chains and spreadsheets break under concurrent requests.</a:t>
            </a:r>
          </a:p>
        </p:txBody>
      </p:sp>
      <p:sp>
        <p:nvSpPr>
          <p:cNvPr id="46" name="Shape 9"/>
          <p:cNvSpPr/>
          <p:nvPr/>
        </p:nvSpPr>
        <p:spPr>
          <a:xfrm>
            <a:off x="822960" y="3639311"/>
            <a:ext cx="256033" cy="256033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0"/>
          <p:cNvSpPr txBox="1"/>
          <p:nvPr/>
        </p:nvSpPr>
        <p:spPr>
          <a:xfrm>
            <a:off x="822960" y="3672648"/>
            <a:ext cx="2560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48" name="Text 11"/>
          <p:cNvSpPr txBox="1"/>
          <p:nvPr/>
        </p:nvSpPr>
        <p:spPr>
          <a:xfrm>
            <a:off x="1188719" y="3781473"/>
            <a:ext cx="4572001" cy="337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No approval governance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100">
                <a:solidFill>
                  <a:srgbClr val="6B7280"/>
                </a:solidFill>
              </a:rPr>
              <a:t>Seminar halls and labs are booked without faculty sign-off.</a:t>
            </a:r>
          </a:p>
        </p:txBody>
      </p:sp>
      <p:sp>
        <p:nvSpPr>
          <p:cNvPr id="49" name="Shape 12"/>
          <p:cNvSpPr/>
          <p:nvPr/>
        </p:nvSpPr>
        <p:spPr>
          <a:xfrm>
            <a:off x="822960" y="4389120"/>
            <a:ext cx="256033" cy="256033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3"/>
          <p:cNvSpPr txBox="1"/>
          <p:nvPr/>
        </p:nvSpPr>
        <p:spPr>
          <a:xfrm>
            <a:off x="822960" y="4422456"/>
            <a:ext cx="2560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51" name="Text 14"/>
          <p:cNvSpPr txBox="1"/>
          <p:nvPr/>
        </p:nvSpPr>
        <p:spPr>
          <a:xfrm>
            <a:off x="1188719" y="4531282"/>
            <a:ext cx="4572001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Zero audit trail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100">
                <a:solidFill>
                  <a:srgbClr val="6B7280"/>
                </a:solidFill>
              </a:rPr>
              <a:t>Disputes cannot be resolved — no record of who did what, when.</a:t>
            </a:r>
          </a:p>
        </p:txBody>
      </p:sp>
      <p:sp>
        <p:nvSpPr>
          <p:cNvPr id="52" name="Shape 15"/>
          <p:cNvSpPr/>
          <p:nvPr/>
        </p:nvSpPr>
        <p:spPr>
          <a:xfrm>
            <a:off x="822960" y="5138928"/>
            <a:ext cx="256033" cy="256033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6"/>
          <p:cNvSpPr txBox="1"/>
          <p:nvPr/>
        </p:nvSpPr>
        <p:spPr>
          <a:xfrm>
            <a:off x="822960" y="5172264"/>
            <a:ext cx="2560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54" name="Text 17"/>
          <p:cNvSpPr txBox="1"/>
          <p:nvPr/>
        </p:nvSpPr>
        <p:spPr>
          <a:xfrm>
            <a:off x="1188719" y="5281090"/>
            <a:ext cx="4572001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Unchecked abuse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100">
                <a:solidFill>
                  <a:srgbClr val="6B7280"/>
                </a:solidFill>
              </a:rPr>
              <a:t>Users hoard slots; no role-based quotas or suspension flow.</a:t>
            </a:r>
          </a:p>
        </p:txBody>
      </p:sp>
      <p:sp>
        <p:nvSpPr>
          <p:cNvPr id="55" name="Shape 1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9"/>
          <p:cNvSpPr txBox="1"/>
          <p:nvPr/>
        </p:nvSpPr>
        <p:spPr>
          <a:xfrm>
            <a:off x="6492240" y="1887527"/>
            <a:ext cx="4846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200">
                <a:solidFill>
                  <a:srgbClr val="14B8A6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57" name="Text 20"/>
          <p:cNvSpPr txBox="1"/>
          <p:nvPr/>
        </p:nvSpPr>
        <p:spPr>
          <a:xfrm>
            <a:off x="6492240" y="2310130"/>
            <a:ext cx="484632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One system. End to end.</a:t>
            </a:r>
          </a:p>
        </p:txBody>
      </p:sp>
      <p:sp>
        <p:nvSpPr>
          <p:cNvPr id="58" name="Shape 21"/>
          <p:cNvSpPr/>
          <p:nvPr/>
        </p:nvSpPr>
        <p:spPr>
          <a:xfrm>
            <a:off x="6492240" y="2889504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22"/>
          <p:cNvSpPr txBox="1"/>
          <p:nvPr/>
        </p:nvSpPr>
        <p:spPr>
          <a:xfrm>
            <a:off x="6492240" y="2922270"/>
            <a:ext cx="25603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60" name="Text 23"/>
          <p:cNvSpPr txBox="1"/>
          <p:nvPr/>
        </p:nvSpPr>
        <p:spPr>
          <a:xfrm>
            <a:off x="6858000" y="3031666"/>
            <a:ext cx="4572000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Atomic conflict detection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rPr b="0" sz="1100">
                <a:solidFill>
                  <a:srgbClr val="CBD5E1"/>
                </a:solidFill>
              </a:rPr>
              <a:t>MongoDB transactions + unique index — safe across replicas.</a:t>
            </a:r>
          </a:p>
        </p:txBody>
      </p:sp>
      <p:sp>
        <p:nvSpPr>
          <p:cNvPr id="61" name="Shape 24"/>
          <p:cNvSpPr/>
          <p:nvPr/>
        </p:nvSpPr>
        <p:spPr>
          <a:xfrm>
            <a:off x="6492240" y="3639311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25"/>
          <p:cNvSpPr txBox="1"/>
          <p:nvPr/>
        </p:nvSpPr>
        <p:spPr>
          <a:xfrm>
            <a:off x="6492240" y="3672077"/>
            <a:ext cx="25603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63" name="Text 26"/>
          <p:cNvSpPr txBox="1"/>
          <p:nvPr/>
        </p:nvSpPr>
        <p:spPr>
          <a:xfrm>
            <a:off x="6858000" y="3781473"/>
            <a:ext cx="4572000" cy="337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Role-based approval flow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rPr b="0" sz="1100">
                <a:solidFill>
                  <a:srgbClr val="CBD5E1"/>
                </a:solidFill>
              </a:rPr>
              <a:t>Request-only rooms queue pending; admins approve or override.</a:t>
            </a:r>
          </a:p>
        </p:txBody>
      </p:sp>
      <p:sp>
        <p:nvSpPr>
          <p:cNvPr id="64" name="Shape 27"/>
          <p:cNvSpPr/>
          <p:nvPr/>
        </p:nvSpPr>
        <p:spPr>
          <a:xfrm>
            <a:off x="6492240" y="4389120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8"/>
          <p:cNvSpPr txBox="1"/>
          <p:nvPr/>
        </p:nvSpPr>
        <p:spPr>
          <a:xfrm>
            <a:off x="6492240" y="4421886"/>
            <a:ext cx="25603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66" name="Text 29"/>
          <p:cNvSpPr txBox="1"/>
          <p:nvPr/>
        </p:nvSpPr>
        <p:spPr>
          <a:xfrm>
            <a:off x="6858000" y="4531282"/>
            <a:ext cx="4572000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Full audit history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rPr b="0" sz="1100">
                <a:solidFill>
                  <a:srgbClr val="CBD5E1"/>
                </a:solidFill>
              </a:rPr>
              <a:t>19 action types captured non-blocking for every mutation.</a:t>
            </a:r>
          </a:p>
        </p:txBody>
      </p:sp>
      <p:sp>
        <p:nvSpPr>
          <p:cNvPr id="67" name="Shape 30"/>
          <p:cNvSpPr/>
          <p:nvPr/>
        </p:nvSpPr>
        <p:spPr>
          <a:xfrm>
            <a:off x="6492240" y="5138928"/>
            <a:ext cx="256033" cy="25603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31"/>
          <p:cNvSpPr txBox="1"/>
          <p:nvPr/>
        </p:nvSpPr>
        <p:spPr>
          <a:xfrm>
            <a:off x="6492240" y="5171694"/>
            <a:ext cx="25603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69" name="Text 32"/>
          <p:cNvSpPr txBox="1"/>
          <p:nvPr/>
        </p:nvSpPr>
        <p:spPr>
          <a:xfrm>
            <a:off x="6858000" y="5281090"/>
            <a:ext cx="4572000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Quotas &amp; suspensions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rPr b="0" sz="1100">
                <a:solidFill>
                  <a:srgbClr val="CBD5E1"/>
                </a:solidFill>
              </a:rPr>
              <a:t>Admin: 50, Faculty: 20, Staff: 10, Student: 5 active bookings.</a:t>
            </a:r>
          </a:p>
        </p:txBody>
      </p:sp>
      <p:sp>
        <p:nvSpPr>
          <p:cNvPr id="70" name="Text 33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71" name="Text 34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75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Three-tier separation with JWT auth, middleware-layer security, and auto-seeding</a:t>
            </a:r>
          </a:p>
        </p:txBody>
      </p:sp>
      <p:sp>
        <p:nvSpPr>
          <p:cNvPr id="76" name="Shape 3"/>
          <p:cNvSpPr/>
          <p:nvPr/>
        </p:nvSpPr>
        <p:spPr>
          <a:xfrm>
            <a:off x="548640" y="1554480"/>
            <a:ext cx="3429001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4"/>
          <p:cNvSpPr/>
          <p:nvPr/>
        </p:nvSpPr>
        <p:spPr>
          <a:xfrm>
            <a:off x="548640" y="1554480"/>
            <a:ext cx="3429001" cy="777241"/>
          </a:xfrm>
          <a:prstGeom prst="roundRect">
            <a:avLst>
              <a:gd name="adj" fmla="val 9412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5"/>
          <p:cNvSpPr/>
          <p:nvPr/>
        </p:nvSpPr>
        <p:spPr>
          <a:xfrm>
            <a:off x="548640" y="2148839"/>
            <a:ext cx="3429001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6"/>
          <p:cNvSpPr txBox="1"/>
          <p:nvPr/>
        </p:nvSpPr>
        <p:spPr>
          <a:xfrm>
            <a:off x="777240" y="1696256"/>
            <a:ext cx="2971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FFFFF"/>
                </a:solidFill>
              </a:defRPr>
            </a:lvl1pPr>
          </a:lstStyle>
          <a:p>
            <a:pPr/>
            <a:r>
              <a:t>CLIENT TIER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777240" y="1946910"/>
            <a:ext cx="2971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React 18 + Vite</a:t>
            </a:r>
          </a:p>
        </p:txBody>
      </p:sp>
      <p:sp>
        <p:nvSpPr>
          <p:cNvPr id="81" name="Text 8"/>
          <p:cNvSpPr txBox="1"/>
          <p:nvPr/>
        </p:nvSpPr>
        <p:spPr>
          <a:xfrm>
            <a:off x="822959" y="3457116"/>
            <a:ext cx="3017522" cy="858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FullCalendar (real-time availability)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Axios client (access token in memory only)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Auth / Theme / Toast contexts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6 admin pages + 6 user pages</a:t>
            </a:r>
          </a:p>
        </p:txBody>
      </p:sp>
      <p:sp>
        <p:nvSpPr>
          <p:cNvPr id="82" name="Shape 9"/>
          <p:cNvSpPr/>
          <p:nvPr/>
        </p:nvSpPr>
        <p:spPr>
          <a:xfrm>
            <a:off x="4526279" y="1554480"/>
            <a:ext cx="3429001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25400">
            <a:solidFill>
              <a:srgbClr val="19376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0"/>
          <p:cNvSpPr/>
          <p:nvPr/>
        </p:nvSpPr>
        <p:spPr>
          <a:xfrm>
            <a:off x="4526279" y="1554480"/>
            <a:ext cx="3429001" cy="777241"/>
          </a:xfrm>
          <a:prstGeom prst="roundRect">
            <a:avLst>
              <a:gd name="adj" fmla="val 9412"/>
            </a:avLst>
          </a:prstGeom>
          <a:solidFill>
            <a:srgbClr val="19376D"/>
          </a:solidFill>
          <a:ln w="12700">
            <a:solidFill>
              <a:srgbClr val="19376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1"/>
          <p:cNvSpPr/>
          <p:nvPr/>
        </p:nvSpPr>
        <p:spPr>
          <a:xfrm>
            <a:off x="4526279" y="2148839"/>
            <a:ext cx="3429001" cy="201169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2"/>
          <p:cNvSpPr txBox="1"/>
          <p:nvPr/>
        </p:nvSpPr>
        <p:spPr>
          <a:xfrm>
            <a:off x="4754879" y="1696256"/>
            <a:ext cx="2971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FFFFF"/>
                </a:solidFill>
              </a:defRPr>
            </a:lvl1pPr>
          </a:lstStyle>
          <a:p>
            <a:pPr/>
            <a:r>
              <a:t>APPLICATION TIER</a:t>
            </a:r>
          </a:p>
        </p:txBody>
      </p:sp>
      <p:sp>
        <p:nvSpPr>
          <p:cNvPr id="86" name="Text 13"/>
          <p:cNvSpPr txBox="1"/>
          <p:nvPr/>
        </p:nvSpPr>
        <p:spPr>
          <a:xfrm>
            <a:off x="4754879" y="1946910"/>
            <a:ext cx="2971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Node.js + Express API</a:t>
            </a:r>
          </a:p>
        </p:txBody>
      </p:sp>
      <p:sp>
        <p:nvSpPr>
          <p:cNvPr id="87" name="Text 14"/>
          <p:cNvSpPr txBox="1"/>
          <p:nvPr/>
        </p:nvSpPr>
        <p:spPr>
          <a:xfrm>
            <a:off x="4800599" y="3457116"/>
            <a:ext cx="3017522" cy="858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Route → Validator → Controller → Model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JWT middleware + admin guard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CORS allowlist · Rate limit · CSP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Audit logger · Email (Nodemailer)</a:t>
            </a:r>
          </a:p>
        </p:txBody>
      </p:sp>
      <p:sp>
        <p:nvSpPr>
          <p:cNvPr id="88" name="Shape 15"/>
          <p:cNvSpPr/>
          <p:nvPr/>
        </p:nvSpPr>
        <p:spPr>
          <a:xfrm>
            <a:off x="8503919" y="1554480"/>
            <a:ext cx="3429001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254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6"/>
          <p:cNvSpPr/>
          <p:nvPr/>
        </p:nvSpPr>
        <p:spPr>
          <a:xfrm>
            <a:off x="8503919" y="1554480"/>
            <a:ext cx="3429001" cy="777241"/>
          </a:xfrm>
          <a:prstGeom prst="roundRect">
            <a:avLst>
              <a:gd name="adj" fmla="val 9412"/>
            </a:avLst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17"/>
          <p:cNvSpPr/>
          <p:nvPr/>
        </p:nvSpPr>
        <p:spPr>
          <a:xfrm>
            <a:off x="8503919" y="2148839"/>
            <a:ext cx="3429001" cy="201169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8"/>
          <p:cNvSpPr txBox="1"/>
          <p:nvPr/>
        </p:nvSpPr>
        <p:spPr>
          <a:xfrm>
            <a:off x="8732519" y="1696256"/>
            <a:ext cx="2971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FFFFF"/>
                </a:solidFill>
              </a:defRPr>
            </a:lvl1pPr>
          </a:lstStyle>
          <a:p>
            <a:pPr/>
            <a:r>
              <a:t>DATA TIER</a:t>
            </a:r>
          </a:p>
        </p:txBody>
      </p:sp>
      <p:sp>
        <p:nvSpPr>
          <p:cNvPr id="92" name="Text 19"/>
          <p:cNvSpPr txBox="1"/>
          <p:nvPr/>
        </p:nvSpPr>
        <p:spPr>
          <a:xfrm>
            <a:off x="8732519" y="1946910"/>
            <a:ext cx="2971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MongoDB + Mongoose</a:t>
            </a:r>
          </a:p>
        </p:txBody>
      </p:sp>
      <p:sp>
        <p:nvSpPr>
          <p:cNvPr id="93" name="Text 20"/>
          <p:cNvSpPr txBox="1"/>
          <p:nvPr/>
        </p:nvSpPr>
        <p:spPr>
          <a:xfrm>
            <a:off x="8778240" y="3457116"/>
            <a:ext cx="3017521" cy="858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5 collections with Mongoose schemas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Partial unique index (room, date, startTime)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TTL revoked-token store</a:t>
            </a:r>
          </a:p>
          <a:p>
            <a:pPr marL="342900" indent="-342900">
              <a:spcBef>
                <a:spcPts val="600"/>
              </a:spcBef>
              <a:buSzPct val="100000"/>
              <a:buChar char="■"/>
              <a:defRPr sz="1100">
                <a:solidFill>
                  <a:srgbClr val="111827"/>
                </a:solidFill>
              </a:defRPr>
            </a:pPr>
            <a:r>
              <a:t>Atomic transactions for bookings</a:t>
            </a:r>
          </a:p>
        </p:txBody>
      </p:sp>
      <p:sp>
        <p:nvSpPr>
          <p:cNvPr id="94" name="Shape 21"/>
          <p:cNvSpPr/>
          <p:nvPr/>
        </p:nvSpPr>
        <p:spPr>
          <a:xfrm rot="5400000">
            <a:off x="3977640" y="3291840"/>
            <a:ext cx="365761" cy="3657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22"/>
          <p:cNvSpPr/>
          <p:nvPr/>
        </p:nvSpPr>
        <p:spPr>
          <a:xfrm rot="5400000">
            <a:off x="7955280" y="3291840"/>
            <a:ext cx="365761" cy="3657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23"/>
          <p:cNvSpPr/>
          <p:nvPr/>
        </p:nvSpPr>
        <p:spPr>
          <a:xfrm>
            <a:off x="548640" y="5623559"/>
            <a:ext cx="11384281" cy="777241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4"/>
          <p:cNvSpPr txBox="1"/>
          <p:nvPr/>
        </p:nvSpPr>
        <p:spPr>
          <a:xfrm>
            <a:off x="822960" y="5760764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0B2447"/>
                </a:solidFill>
              </a:defRPr>
            </a:lvl1pPr>
          </a:lstStyle>
          <a:p>
            <a:pPr/>
            <a:r>
              <a:t>ROLE MODEL</a:t>
            </a:r>
          </a:p>
        </p:txBody>
      </p:sp>
      <p:sp>
        <p:nvSpPr>
          <p:cNvPr id="98" name="Text 25"/>
          <p:cNvSpPr txBox="1"/>
          <p:nvPr/>
        </p:nvSpPr>
        <p:spPr>
          <a:xfrm>
            <a:off x="2377439" y="5910887"/>
            <a:ext cx="23774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B2447"/>
                </a:solidFill>
              </a:defRPr>
            </a:pPr>
            <a:r>
              <a:t>Student</a:t>
            </a:r>
            <a:r>
              <a:rPr b="0" sz="1100">
                <a:solidFill>
                  <a:srgbClr val="6B7280"/>
                </a:solidFill>
              </a:rPr>
              <a:t>   5 active</a:t>
            </a:r>
          </a:p>
        </p:txBody>
      </p:sp>
      <p:sp>
        <p:nvSpPr>
          <p:cNvPr id="99" name="Shape 26"/>
          <p:cNvSpPr/>
          <p:nvPr/>
        </p:nvSpPr>
        <p:spPr>
          <a:xfrm>
            <a:off x="4709159" y="5806440"/>
            <a:ext cx="1" cy="36576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27"/>
          <p:cNvSpPr txBox="1"/>
          <p:nvPr/>
        </p:nvSpPr>
        <p:spPr>
          <a:xfrm>
            <a:off x="4754879" y="5910887"/>
            <a:ext cx="23774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B2447"/>
                </a:solidFill>
              </a:defRPr>
            </a:pPr>
            <a:r>
              <a:t>Staff</a:t>
            </a:r>
            <a:r>
              <a:rPr b="0" sz="1100">
                <a:solidFill>
                  <a:srgbClr val="6B7280"/>
                </a:solidFill>
              </a:rPr>
              <a:t>   10 active</a:t>
            </a:r>
          </a:p>
        </p:txBody>
      </p:sp>
      <p:sp>
        <p:nvSpPr>
          <p:cNvPr id="101" name="Shape 28"/>
          <p:cNvSpPr/>
          <p:nvPr/>
        </p:nvSpPr>
        <p:spPr>
          <a:xfrm>
            <a:off x="7086600" y="5806440"/>
            <a:ext cx="0" cy="36576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9"/>
          <p:cNvSpPr txBox="1"/>
          <p:nvPr/>
        </p:nvSpPr>
        <p:spPr>
          <a:xfrm>
            <a:off x="7132319" y="5910887"/>
            <a:ext cx="23774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B2447"/>
                </a:solidFill>
              </a:defRPr>
            </a:pPr>
            <a:r>
              <a:t>Faculty</a:t>
            </a:r>
            <a:r>
              <a:rPr b="0" sz="1100">
                <a:solidFill>
                  <a:srgbClr val="6B7280"/>
                </a:solidFill>
              </a:rPr>
              <a:t>   20 active</a:t>
            </a:r>
          </a:p>
        </p:txBody>
      </p:sp>
      <p:sp>
        <p:nvSpPr>
          <p:cNvPr id="103" name="Shape 30"/>
          <p:cNvSpPr/>
          <p:nvPr/>
        </p:nvSpPr>
        <p:spPr>
          <a:xfrm>
            <a:off x="9464040" y="5806440"/>
            <a:ext cx="1" cy="36576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31"/>
          <p:cNvSpPr txBox="1"/>
          <p:nvPr/>
        </p:nvSpPr>
        <p:spPr>
          <a:xfrm>
            <a:off x="9509759" y="5910887"/>
            <a:ext cx="23774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B2447"/>
                </a:solidFill>
              </a:defRPr>
            </a:pPr>
            <a:r>
              <a:t>Admin</a:t>
            </a:r>
            <a:r>
              <a:rPr b="0" sz="1100">
                <a:solidFill>
                  <a:srgbClr val="6B7280"/>
                </a:solidFill>
              </a:rPr>
              <a:t>   50 active · full override</a:t>
            </a:r>
          </a:p>
        </p:txBody>
      </p:sp>
      <p:sp>
        <p:nvSpPr>
          <p:cNvPr id="105" name="Text 32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106" name="Text 33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Core Features</a:t>
            </a:r>
          </a:p>
        </p:txBody>
      </p:sp>
      <p:sp>
        <p:nvSpPr>
          <p:cNvPr id="110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Everything a campus needs on day one — no second system required</a:t>
            </a:r>
          </a:p>
        </p:txBody>
      </p:sp>
      <p:sp>
        <p:nvSpPr>
          <p:cNvPr id="111" name="Text 3"/>
          <p:cNvSpPr txBox="1"/>
          <p:nvPr/>
        </p:nvSpPr>
        <p:spPr>
          <a:xfrm>
            <a:off x="731519" y="1578786"/>
            <a:ext cx="5303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14B8A6"/>
                </a:solidFill>
              </a:defRPr>
            </a:lvl1pPr>
          </a:lstStyle>
          <a:p>
            <a:pPr/>
            <a:r>
              <a:t>FOR USERS</a:t>
            </a:r>
          </a:p>
        </p:txBody>
      </p:sp>
      <p:sp>
        <p:nvSpPr>
          <p:cNvPr id="112" name="Text 4"/>
          <p:cNvSpPr txBox="1"/>
          <p:nvPr/>
        </p:nvSpPr>
        <p:spPr>
          <a:xfrm>
            <a:off x="731519" y="1852929"/>
            <a:ext cx="530352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Self-service booking</a:t>
            </a:r>
          </a:p>
        </p:txBody>
      </p:sp>
      <p:sp>
        <p:nvSpPr>
          <p:cNvPr id="113" name="Shape 5"/>
          <p:cNvSpPr/>
          <p:nvPr/>
        </p:nvSpPr>
        <p:spPr>
          <a:xfrm>
            <a:off x="731519" y="2560320"/>
            <a:ext cx="365761" cy="36576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6"/>
          <p:cNvSpPr/>
          <p:nvPr/>
        </p:nvSpPr>
        <p:spPr>
          <a:xfrm>
            <a:off x="850391" y="2679192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7"/>
          <p:cNvSpPr txBox="1"/>
          <p:nvPr/>
        </p:nvSpPr>
        <p:spPr>
          <a:xfrm>
            <a:off x="1234440" y="2682678"/>
            <a:ext cx="4754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Smart Search  </a:t>
            </a:r>
            <a:r>
              <a:rPr b="0" sz="1100">
                <a:solidFill>
                  <a:srgbClr val="6B7280"/>
                </a:solidFill>
              </a:rPr>
              <a:t>Filter by type, building, capacity</a:t>
            </a:r>
          </a:p>
        </p:txBody>
      </p:sp>
      <p:sp>
        <p:nvSpPr>
          <p:cNvPr id="116" name="Shape 8"/>
          <p:cNvSpPr/>
          <p:nvPr/>
        </p:nvSpPr>
        <p:spPr>
          <a:xfrm>
            <a:off x="731519" y="3154679"/>
            <a:ext cx="365761" cy="36576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9"/>
          <p:cNvSpPr/>
          <p:nvPr/>
        </p:nvSpPr>
        <p:spPr>
          <a:xfrm>
            <a:off x="850391" y="3273552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0"/>
          <p:cNvSpPr txBox="1"/>
          <p:nvPr/>
        </p:nvSpPr>
        <p:spPr>
          <a:xfrm>
            <a:off x="1234440" y="3277038"/>
            <a:ext cx="4754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Live Calendar  </a:t>
            </a:r>
            <a:r>
              <a:rPr b="0" sz="1100">
                <a:solidFill>
                  <a:srgbClr val="6B7280"/>
                </a:solidFill>
              </a:rPr>
              <a:t>FullCalendar view per room with availability</a:t>
            </a:r>
          </a:p>
        </p:txBody>
      </p:sp>
      <p:sp>
        <p:nvSpPr>
          <p:cNvPr id="119" name="Shape 11"/>
          <p:cNvSpPr/>
          <p:nvPr/>
        </p:nvSpPr>
        <p:spPr>
          <a:xfrm>
            <a:off x="731519" y="3749040"/>
            <a:ext cx="365761" cy="36576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12"/>
          <p:cNvSpPr/>
          <p:nvPr/>
        </p:nvSpPr>
        <p:spPr>
          <a:xfrm>
            <a:off x="850391" y="3867911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3"/>
          <p:cNvSpPr txBox="1"/>
          <p:nvPr/>
        </p:nvSpPr>
        <p:spPr>
          <a:xfrm>
            <a:off x="1234440" y="3871398"/>
            <a:ext cx="4754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Book &amp; Cancel  </a:t>
            </a:r>
            <a:r>
              <a:rPr b="0" sz="1100">
                <a:solidFill>
                  <a:srgbClr val="6B7280"/>
                </a:solidFill>
              </a:rPr>
              <a:t>Attendees, purpose, reason tracking</a:t>
            </a:r>
          </a:p>
        </p:txBody>
      </p:sp>
      <p:sp>
        <p:nvSpPr>
          <p:cNvPr id="122" name="Shape 14"/>
          <p:cNvSpPr/>
          <p:nvPr/>
        </p:nvSpPr>
        <p:spPr>
          <a:xfrm>
            <a:off x="731519" y="4343399"/>
            <a:ext cx="365761" cy="36576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15"/>
          <p:cNvSpPr/>
          <p:nvPr/>
        </p:nvSpPr>
        <p:spPr>
          <a:xfrm>
            <a:off x="850391" y="4462271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6"/>
          <p:cNvSpPr txBox="1"/>
          <p:nvPr/>
        </p:nvSpPr>
        <p:spPr>
          <a:xfrm>
            <a:off x="1234440" y="4465758"/>
            <a:ext cx="4754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Approval-Aware  </a:t>
            </a:r>
            <a:r>
              <a:rPr b="0" sz="1100">
                <a:solidFill>
                  <a:srgbClr val="6B7280"/>
                </a:solidFill>
              </a:rPr>
              <a:t>Pending status for controlled rooms</a:t>
            </a:r>
          </a:p>
        </p:txBody>
      </p:sp>
      <p:sp>
        <p:nvSpPr>
          <p:cNvPr id="125" name="Shape 17"/>
          <p:cNvSpPr/>
          <p:nvPr/>
        </p:nvSpPr>
        <p:spPr>
          <a:xfrm>
            <a:off x="731519" y="4937759"/>
            <a:ext cx="365761" cy="36576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18"/>
          <p:cNvSpPr/>
          <p:nvPr/>
        </p:nvSpPr>
        <p:spPr>
          <a:xfrm>
            <a:off x="850391" y="5056632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9"/>
          <p:cNvSpPr txBox="1"/>
          <p:nvPr/>
        </p:nvSpPr>
        <p:spPr>
          <a:xfrm>
            <a:off x="1234440" y="5060118"/>
            <a:ext cx="4754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Check-In Codes  </a:t>
            </a:r>
            <a:r>
              <a:rPr b="0" sz="1100">
                <a:solidFill>
                  <a:srgbClr val="6B7280"/>
                </a:solidFill>
              </a:rPr>
              <a:t>Only during the booked slot — UTC-stable</a:t>
            </a:r>
          </a:p>
        </p:txBody>
      </p:sp>
      <p:sp>
        <p:nvSpPr>
          <p:cNvPr id="128" name="Shape 20"/>
          <p:cNvSpPr/>
          <p:nvPr/>
        </p:nvSpPr>
        <p:spPr>
          <a:xfrm>
            <a:off x="731519" y="5532120"/>
            <a:ext cx="365761" cy="36576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21"/>
          <p:cNvSpPr/>
          <p:nvPr/>
        </p:nvSpPr>
        <p:spPr>
          <a:xfrm>
            <a:off x="850391" y="5650991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22"/>
          <p:cNvSpPr txBox="1"/>
          <p:nvPr/>
        </p:nvSpPr>
        <p:spPr>
          <a:xfrm>
            <a:off x="1234440" y="5654478"/>
            <a:ext cx="4754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Confirmation Codes  </a:t>
            </a:r>
            <a:r>
              <a:rPr b="0" sz="1100">
                <a:solidFill>
                  <a:srgbClr val="6B7280"/>
                </a:solidFill>
              </a:rPr>
              <a:t>Unique code for every booking</a:t>
            </a:r>
          </a:p>
        </p:txBody>
      </p:sp>
      <p:sp>
        <p:nvSpPr>
          <p:cNvPr id="131" name="Shape 23"/>
          <p:cNvSpPr/>
          <p:nvPr/>
        </p:nvSpPr>
        <p:spPr>
          <a:xfrm flipH="1">
            <a:off x="6080759" y="1600199"/>
            <a:ext cx="1" cy="466344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24"/>
          <p:cNvSpPr txBox="1"/>
          <p:nvPr/>
        </p:nvSpPr>
        <p:spPr>
          <a:xfrm>
            <a:off x="6446520" y="1578786"/>
            <a:ext cx="5303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0B2447"/>
                </a:solidFill>
              </a:defRPr>
            </a:lvl1pPr>
          </a:lstStyle>
          <a:p>
            <a:pPr/>
            <a:r>
              <a:t>FOR ADMINS</a:t>
            </a:r>
          </a:p>
        </p:txBody>
      </p:sp>
      <p:sp>
        <p:nvSpPr>
          <p:cNvPr id="133" name="Text 25"/>
          <p:cNvSpPr txBox="1"/>
          <p:nvPr/>
        </p:nvSpPr>
        <p:spPr>
          <a:xfrm>
            <a:off x="6446520" y="1852929"/>
            <a:ext cx="530352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Governance &amp; insight</a:t>
            </a:r>
          </a:p>
        </p:txBody>
      </p:sp>
      <p:sp>
        <p:nvSpPr>
          <p:cNvPr id="134" name="Shape 26"/>
          <p:cNvSpPr/>
          <p:nvPr/>
        </p:nvSpPr>
        <p:spPr>
          <a:xfrm>
            <a:off x="6446520" y="2560320"/>
            <a:ext cx="365761" cy="365761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27"/>
          <p:cNvSpPr/>
          <p:nvPr/>
        </p:nvSpPr>
        <p:spPr>
          <a:xfrm>
            <a:off x="6565392" y="2679192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28"/>
          <p:cNvSpPr txBox="1"/>
          <p:nvPr/>
        </p:nvSpPr>
        <p:spPr>
          <a:xfrm>
            <a:off x="6949440" y="2682678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Dashboard  </a:t>
            </a:r>
            <a:r>
              <a:rPr b="0" sz="1100">
                <a:solidFill>
                  <a:srgbClr val="6B7280"/>
                </a:solidFill>
              </a:rPr>
              <a:t>Stats, attention panel, activity feed</a:t>
            </a:r>
          </a:p>
        </p:txBody>
      </p:sp>
      <p:sp>
        <p:nvSpPr>
          <p:cNvPr id="137" name="Shape 29"/>
          <p:cNvSpPr/>
          <p:nvPr/>
        </p:nvSpPr>
        <p:spPr>
          <a:xfrm>
            <a:off x="6446520" y="3154679"/>
            <a:ext cx="365761" cy="365761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30"/>
          <p:cNvSpPr/>
          <p:nvPr/>
        </p:nvSpPr>
        <p:spPr>
          <a:xfrm>
            <a:off x="6565392" y="3273552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31"/>
          <p:cNvSpPr txBox="1"/>
          <p:nvPr/>
        </p:nvSpPr>
        <p:spPr>
          <a:xfrm>
            <a:off x="6949440" y="3277038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Room Management  </a:t>
            </a:r>
            <a:r>
              <a:rPr b="0" sz="1100">
                <a:solidFill>
                  <a:srgbClr val="6B7280"/>
                </a:solidFill>
              </a:rPr>
              <a:t>Hours, buffers, approval rules, soft-delete</a:t>
            </a:r>
          </a:p>
        </p:txBody>
      </p:sp>
      <p:sp>
        <p:nvSpPr>
          <p:cNvPr id="140" name="Shape 32"/>
          <p:cNvSpPr/>
          <p:nvPr/>
        </p:nvSpPr>
        <p:spPr>
          <a:xfrm>
            <a:off x="6446520" y="3749040"/>
            <a:ext cx="365761" cy="365761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33"/>
          <p:cNvSpPr/>
          <p:nvPr/>
        </p:nvSpPr>
        <p:spPr>
          <a:xfrm>
            <a:off x="6565392" y="3867911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4"/>
          <p:cNvSpPr txBox="1"/>
          <p:nvPr/>
        </p:nvSpPr>
        <p:spPr>
          <a:xfrm>
            <a:off x="6949440" y="3871398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Booking Oversight  </a:t>
            </a:r>
            <a:r>
              <a:rPr b="0" sz="1100">
                <a:solidFill>
                  <a:srgbClr val="6B7280"/>
                </a:solidFill>
              </a:rPr>
              <a:t>Approve, reject, override with audit trail</a:t>
            </a:r>
          </a:p>
        </p:txBody>
      </p:sp>
      <p:sp>
        <p:nvSpPr>
          <p:cNvPr id="143" name="Shape 35"/>
          <p:cNvSpPr/>
          <p:nvPr/>
        </p:nvSpPr>
        <p:spPr>
          <a:xfrm>
            <a:off x="6446520" y="4343399"/>
            <a:ext cx="365761" cy="365762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36"/>
          <p:cNvSpPr/>
          <p:nvPr/>
        </p:nvSpPr>
        <p:spPr>
          <a:xfrm>
            <a:off x="6565392" y="4462271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37"/>
          <p:cNvSpPr txBox="1"/>
          <p:nvPr/>
        </p:nvSpPr>
        <p:spPr>
          <a:xfrm>
            <a:off x="6949440" y="4465758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User Management  </a:t>
            </a:r>
            <a:r>
              <a:rPr b="0" sz="1100">
                <a:solidFill>
                  <a:srgbClr val="6B7280"/>
                </a:solidFill>
              </a:rPr>
              <a:t>Role change, suspend / activate, auto quotas</a:t>
            </a:r>
          </a:p>
        </p:txBody>
      </p:sp>
      <p:sp>
        <p:nvSpPr>
          <p:cNvPr id="146" name="Shape 38"/>
          <p:cNvSpPr/>
          <p:nvPr/>
        </p:nvSpPr>
        <p:spPr>
          <a:xfrm>
            <a:off x="6446520" y="4937759"/>
            <a:ext cx="365761" cy="365761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39"/>
          <p:cNvSpPr/>
          <p:nvPr/>
        </p:nvSpPr>
        <p:spPr>
          <a:xfrm>
            <a:off x="6565392" y="5056632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40"/>
          <p:cNvSpPr txBox="1"/>
          <p:nvPr/>
        </p:nvSpPr>
        <p:spPr>
          <a:xfrm>
            <a:off x="6949440" y="5060118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Analytics  </a:t>
            </a:r>
            <a:r>
              <a:rPr b="0" sz="1100">
                <a:solidFill>
                  <a:srgbClr val="6B7280"/>
                </a:solidFill>
              </a:rPr>
              <a:t>Trend charts, no-show rates, top rooms</a:t>
            </a:r>
          </a:p>
        </p:txBody>
      </p:sp>
      <p:sp>
        <p:nvSpPr>
          <p:cNvPr id="149" name="Shape 41"/>
          <p:cNvSpPr/>
          <p:nvPr/>
        </p:nvSpPr>
        <p:spPr>
          <a:xfrm>
            <a:off x="6446520" y="5532120"/>
            <a:ext cx="365761" cy="365761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42"/>
          <p:cNvSpPr/>
          <p:nvPr/>
        </p:nvSpPr>
        <p:spPr>
          <a:xfrm>
            <a:off x="6565392" y="5650991"/>
            <a:ext cx="128017" cy="1280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43"/>
          <p:cNvSpPr txBox="1"/>
          <p:nvPr/>
        </p:nvSpPr>
        <p:spPr>
          <a:xfrm>
            <a:off x="6949440" y="5654478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Audit Log  </a:t>
            </a:r>
            <a:r>
              <a:rPr b="0" sz="1100">
                <a:solidFill>
                  <a:srgbClr val="6B7280"/>
                </a:solidFill>
              </a:rPr>
              <a:t>19 action types, expandable JSON detail</a:t>
            </a:r>
          </a:p>
        </p:txBody>
      </p:sp>
      <p:sp>
        <p:nvSpPr>
          <p:cNvPr id="152" name="Text 44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153" name="Text 45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4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Security Hardening — Defense in Depth</a:t>
            </a:r>
          </a:p>
        </p:txBody>
      </p:sp>
      <p:sp>
        <p:nvSpPr>
          <p:cNvPr id="157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Not bolt-on: every layer validates, escapes, and revokes</a:t>
            </a:r>
          </a:p>
        </p:txBody>
      </p:sp>
      <p:sp>
        <p:nvSpPr>
          <p:cNvPr id="158" name="Shape 3"/>
          <p:cNvSpPr/>
          <p:nvPr/>
        </p:nvSpPr>
        <p:spPr>
          <a:xfrm>
            <a:off x="548640" y="1600200"/>
            <a:ext cx="35052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4"/>
          <p:cNvSpPr/>
          <p:nvPr/>
        </p:nvSpPr>
        <p:spPr>
          <a:xfrm>
            <a:off x="548640" y="1600199"/>
            <a:ext cx="73153" cy="233172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5"/>
          <p:cNvSpPr txBox="1"/>
          <p:nvPr/>
        </p:nvSpPr>
        <p:spPr>
          <a:xfrm>
            <a:off x="804671" y="1807209"/>
            <a:ext cx="64008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1" name="Text 6"/>
          <p:cNvSpPr txBox="1"/>
          <p:nvPr/>
        </p:nvSpPr>
        <p:spPr>
          <a:xfrm>
            <a:off x="804672" y="2338069"/>
            <a:ext cx="3139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JWT Session Model</a:t>
            </a:r>
          </a:p>
        </p:txBody>
      </p:sp>
      <p:sp>
        <p:nvSpPr>
          <p:cNvPr id="162" name="Text 7"/>
          <p:cNvSpPr txBox="1"/>
          <p:nvPr/>
        </p:nvSpPr>
        <p:spPr>
          <a:xfrm>
            <a:off x="804672" y="2679192"/>
            <a:ext cx="3139440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Short-lived access (1h) + rotating refresh (7d) in httpOnly Secure SameSite=Strict cookie. jti revocation store blocks logged-out tokens.</a:t>
            </a:r>
          </a:p>
        </p:txBody>
      </p:sp>
      <p:sp>
        <p:nvSpPr>
          <p:cNvPr id="163" name="Shape 8"/>
          <p:cNvSpPr/>
          <p:nvPr/>
        </p:nvSpPr>
        <p:spPr>
          <a:xfrm>
            <a:off x="4328159" y="1600200"/>
            <a:ext cx="35052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9"/>
          <p:cNvSpPr/>
          <p:nvPr/>
        </p:nvSpPr>
        <p:spPr>
          <a:xfrm>
            <a:off x="4328159" y="1600199"/>
            <a:ext cx="73153" cy="233172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0"/>
          <p:cNvSpPr txBox="1"/>
          <p:nvPr/>
        </p:nvSpPr>
        <p:spPr>
          <a:xfrm>
            <a:off x="4584191" y="1807209"/>
            <a:ext cx="6400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6" name="Text 11"/>
          <p:cNvSpPr txBox="1"/>
          <p:nvPr/>
        </p:nvSpPr>
        <p:spPr>
          <a:xfrm>
            <a:off x="4584191" y="2338069"/>
            <a:ext cx="3139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Input Validation</a:t>
            </a:r>
          </a:p>
        </p:txBody>
      </p:sp>
      <p:sp>
        <p:nvSpPr>
          <p:cNvPr id="167" name="Text 12"/>
          <p:cNvSpPr txBox="1"/>
          <p:nvPr/>
        </p:nvSpPr>
        <p:spPr>
          <a:xfrm>
            <a:off x="4584191" y="2679192"/>
            <a:ext cx="3139441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express-validator at the route layer. Consistent 400 VALIDATION_ERROR shape. IDs, enums, HH:MM times, numeric bounds checked pre-controller.</a:t>
            </a:r>
          </a:p>
        </p:txBody>
      </p:sp>
      <p:sp>
        <p:nvSpPr>
          <p:cNvPr id="168" name="Shape 13"/>
          <p:cNvSpPr/>
          <p:nvPr/>
        </p:nvSpPr>
        <p:spPr>
          <a:xfrm>
            <a:off x="8107680" y="1600200"/>
            <a:ext cx="35052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14"/>
          <p:cNvSpPr/>
          <p:nvPr/>
        </p:nvSpPr>
        <p:spPr>
          <a:xfrm>
            <a:off x="8107680" y="1600199"/>
            <a:ext cx="73153" cy="233172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5"/>
          <p:cNvSpPr txBox="1"/>
          <p:nvPr/>
        </p:nvSpPr>
        <p:spPr>
          <a:xfrm>
            <a:off x="8363711" y="1807209"/>
            <a:ext cx="6400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1" name="Text 16"/>
          <p:cNvSpPr txBox="1"/>
          <p:nvPr/>
        </p:nvSpPr>
        <p:spPr>
          <a:xfrm>
            <a:off x="8363711" y="2338069"/>
            <a:ext cx="3139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NoSQL / ReDoS Guard</a:t>
            </a:r>
          </a:p>
        </p:txBody>
      </p:sp>
      <p:sp>
        <p:nvSpPr>
          <p:cNvPr id="172" name="Text 17"/>
          <p:cNvSpPr txBox="1"/>
          <p:nvPr/>
        </p:nvSpPr>
        <p:spPr>
          <a:xfrm>
            <a:off x="8363711" y="2679192"/>
            <a:ext cx="3139441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Primitive-only query sanitization. Regex inputs escaped and length-limited. $ operators rejected before they hit Mongoose.</a:t>
            </a:r>
          </a:p>
        </p:txBody>
      </p:sp>
      <p:sp>
        <p:nvSpPr>
          <p:cNvPr id="173" name="Shape 18"/>
          <p:cNvSpPr/>
          <p:nvPr/>
        </p:nvSpPr>
        <p:spPr>
          <a:xfrm>
            <a:off x="548640" y="4160520"/>
            <a:ext cx="35052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Shape 19"/>
          <p:cNvSpPr/>
          <p:nvPr/>
        </p:nvSpPr>
        <p:spPr>
          <a:xfrm>
            <a:off x="548640" y="4160520"/>
            <a:ext cx="73153" cy="233172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20"/>
          <p:cNvSpPr txBox="1"/>
          <p:nvPr/>
        </p:nvSpPr>
        <p:spPr>
          <a:xfrm>
            <a:off x="804671" y="4367529"/>
            <a:ext cx="64008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6" name="Text 21"/>
          <p:cNvSpPr txBox="1"/>
          <p:nvPr/>
        </p:nvSpPr>
        <p:spPr>
          <a:xfrm>
            <a:off x="804672" y="4898389"/>
            <a:ext cx="3139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Mass Assignment</a:t>
            </a:r>
          </a:p>
        </p:txBody>
      </p:sp>
      <p:sp>
        <p:nvSpPr>
          <p:cNvPr id="177" name="Text 22"/>
          <p:cNvSpPr txBox="1"/>
          <p:nvPr/>
        </p:nvSpPr>
        <p:spPr>
          <a:xfrm>
            <a:off x="804672" y="5239511"/>
            <a:ext cx="313944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Strict allowlists on room &amp; booking mutations. Protected fields rejected with explicit PROTECTED_FIELDS error — 14 tests cover this.</a:t>
            </a:r>
          </a:p>
        </p:txBody>
      </p:sp>
      <p:sp>
        <p:nvSpPr>
          <p:cNvPr id="178" name="Shape 23"/>
          <p:cNvSpPr/>
          <p:nvPr/>
        </p:nvSpPr>
        <p:spPr>
          <a:xfrm>
            <a:off x="4328159" y="4160520"/>
            <a:ext cx="35052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Shape 24"/>
          <p:cNvSpPr/>
          <p:nvPr/>
        </p:nvSpPr>
        <p:spPr>
          <a:xfrm>
            <a:off x="4328159" y="4160520"/>
            <a:ext cx="73153" cy="233172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5"/>
          <p:cNvSpPr txBox="1"/>
          <p:nvPr/>
        </p:nvSpPr>
        <p:spPr>
          <a:xfrm>
            <a:off x="4584191" y="4367529"/>
            <a:ext cx="6400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81" name="Text 26"/>
          <p:cNvSpPr txBox="1"/>
          <p:nvPr/>
        </p:nvSpPr>
        <p:spPr>
          <a:xfrm>
            <a:off x="4584191" y="4898389"/>
            <a:ext cx="3139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CORS + Rate Limits</a:t>
            </a:r>
          </a:p>
        </p:txBody>
      </p:sp>
      <p:sp>
        <p:nvSpPr>
          <p:cNvPr id="182" name="Text 27"/>
          <p:cNvSpPr txBox="1"/>
          <p:nvPr/>
        </p:nvSpPr>
        <p:spPr>
          <a:xfrm>
            <a:off x="4584191" y="5239511"/>
            <a:ext cx="313944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Trusted-origin allowlist only. Rate limits on /api/auth/* and admin mutations to resist credential stuffing and mutation abuse.</a:t>
            </a:r>
          </a:p>
        </p:txBody>
      </p:sp>
      <p:sp>
        <p:nvSpPr>
          <p:cNvPr id="183" name="Shape 28"/>
          <p:cNvSpPr/>
          <p:nvPr/>
        </p:nvSpPr>
        <p:spPr>
          <a:xfrm>
            <a:off x="8107680" y="4160520"/>
            <a:ext cx="3505201" cy="23317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29"/>
          <p:cNvSpPr/>
          <p:nvPr/>
        </p:nvSpPr>
        <p:spPr>
          <a:xfrm>
            <a:off x="8107680" y="4160520"/>
            <a:ext cx="73153" cy="233172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30"/>
          <p:cNvSpPr txBox="1"/>
          <p:nvPr/>
        </p:nvSpPr>
        <p:spPr>
          <a:xfrm>
            <a:off x="8363711" y="4367529"/>
            <a:ext cx="6400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86" name="Text 31"/>
          <p:cNvSpPr txBox="1"/>
          <p:nvPr/>
        </p:nvSpPr>
        <p:spPr>
          <a:xfrm>
            <a:off x="8363711" y="4898389"/>
            <a:ext cx="3139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Output Escaping</a:t>
            </a:r>
          </a:p>
        </p:txBody>
      </p:sp>
      <p:sp>
        <p:nvSpPr>
          <p:cNvPr id="187" name="Text 32"/>
          <p:cNvSpPr txBox="1"/>
          <p:nvPr/>
        </p:nvSpPr>
        <p:spPr>
          <a:xfrm>
            <a:off x="8363711" y="5239511"/>
            <a:ext cx="313944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HTML email templates escape user-controlled values. CSP header set by backend. Soft-deleted rooms hidden from all read paths.</a:t>
            </a:r>
          </a:p>
        </p:txBody>
      </p:sp>
      <p:sp>
        <p:nvSpPr>
          <p:cNvPr id="188" name="Text 33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189" name="Text 34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5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Data Model &amp; API Surface</a:t>
            </a:r>
          </a:p>
        </p:txBody>
      </p:sp>
      <p:sp>
        <p:nvSpPr>
          <p:cNvPr id="193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5 Mongoose models · 5 route groups · 30+ endpoints</a:t>
            </a:r>
          </a:p>
        </p:txBody>
      </p:sp>
      <p:sp>
        <p:nvSpPr>
          <p:cNvPr id="194" name="Text 3"/>
          <p:cNvSpPr txBox="1"/>
          <p:nvPr/>
        </p:nvSpPr>
        <p:spPr>
          <a:xfrm>
            <a:off x="548640" y="1624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14B8A6"/>
                </a:solidFill>
              </a:defRPr>
            </a:lvl1pPr>
          </a:lstStyle>
          <a:p>
            <a:pPr/>
            <a:r>
              <a:t>MODELS</a:t>
            </a:r>
          </a:p>
        </p:txBody>
      </p:sp>
      <p:sp>
        <p:nvSpPr>
          <p:cNvPr id="195" name="Shape 4"/>
          <p:cNvSpPr/>
          <p:nvPr/>
        </p:nvSpPr>
        <p:spPr>
          <a:xfrm>
            <a:off x="548640" y="1874520"/>
            <a:ext cx="5532121" cy="777241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5"/>
          <p:cNvSpPr/>
          <p:nvPr/>
        </p:nvSpPr>
        <p:spPr>
          <a:xfrm>
            <a:off x="548640" y="1874520"/>
            <a:ext cx="73153" cy="77724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6"/>
          <p:cNvSpPr txBox="1"/>
          <p:nvPr/>
        </p:nvSpPr>
        <p:spPr>
          <a:xfrm>
            <a:off x="777239" y="1983232"/>
            <a:ext cx="16459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98" name="Text 7"/>
          <p:cNvSpPr txBox="1"/>
          <p:nvPr/>
        </p:nvSpPr>
        <p:spPr>
          <a:xfrm>
            <a:off x="777239" y="2351532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role · status · bookingLimit · refreshJti</a:t>
            </a:r>
          </a:p>
        </p:txBody>
      </p:sp>
      <p:sp>
        <p:nvSpPr>
          <p:cNvPr id="199" name="Shape 8"/>
          <p:cNvSpPr/>
          <p:nvPr/>
        </p:nvSpPr>
        <p:spPr>
          <a:xfrm>
            <a:off x="548640" y="2743200"/>
            <a:ext cx="5532121" cy="777241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hape 9"/>
          <p:cNvSpPr/>
          <p:nvPr/>
        </p:nvSpPr>
        <p:spPr>
          <a:xfrm>
            <a:off x="548640" y="2743199"/>
            <a:ext cx="73153" cy="77724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0"/>
          <p:cNvSpPr txBox="1"/>
          <p:nvPr/>
        </p:nvSpPr>
        <p:spPr>
          <a:xfrm>
            <a:off x="777239" y="2851911"/>
            <a:ext cx="16459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Room</a:t>
            </a:r>
          </a:p>
        </p:txBody>
      </p:sp>
      <p:sp>
        <p:nvSpPr>
          <p:cNvPr id="202" name="Text 11"/>
          <p:cNvSpPr txBox="1"/>
          <p:nvPr/>
        </p:nvSpPr>
        <p:spPr>
          <a:xfrm>
            <a:off x="777239" y="3144012"/>
            <a:ext cx="51206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type · building · capacity · operatingHours · buffer · requiresApproval · isActive</a:t>
            </a:r>
          </a:p>
        </p:txBody>
      </p:sp>
      <p:sp>
        <p:nvSpPr>
          <p:cNvPr id="203" name="Shape 12"/>
          <p:cNvSpPr/>
          <p:nvPr/>
        </p:nvSpPr>
        <p:spPr>
          <a:xfrm>
            <a:off x="548640" y="3611879"/>
            <a:ext cx="5532121" cy="777241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13"/>
          <p:cNvSpPr/>
          <p:nvPr/>
        </p:nvSpPr>
        <p:spPr>
          <a:xfrm>
            <a:off x="548640" y="3611879"/>
            <a:ext cx="73153" cy="77724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14"/>
          <p:cNvSpPr txBox="1"/>
          <p:nvPr/>
        </p:nvSpPr>
        <p:spPr>
          <a:xfrm>
            <a:off x="777239" y="3720592"/>
            <a:ext cx="16459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Booking</a:t>
            </a:r>
          </a:p>
        </p:txBody>
      </p:sp>
      <p:sp>
        <p:nvSpPr>
          <p:cNvPr id="206" name="Text 15"/>
          <p:cNvSpPr txBox="1"/>
          <p:nvPr/>
        </p:nvSpPr>
        <p:spPr>
          <a:xfrm>
            <a:off x="777239" y="4012692"/>
            <a:ext cx="51206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room · user · date · bookingDateKey · startTime · endTime · status · confirmationCode · checkedIn</a:t>
            </a:r>
          </a:p>
        </p:txBody>
      </p:sp>
      <p:sp>
        <p:nvSpPr>
          <p:cNvPr id="207" name="Shape 16"/>
          <p:cNvSpPr/>
          <p:nvPr/>
        </p:nvSpPr>
        <p:spPr>
          <a:xfrm>
            <a:off x="548640" y="4480559"/>
            <a:ext cx="5532121" cy="777241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Shape 17"/>
          <p:cNvSpPr/>
          <p:nvPr/>
        </p:nvSpPr>
        <p:spPr>
          <a:xfrm>
            <a:off x="548640" y="4480559"/>
            <a:ext cx="73153" cy="77724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18"/>
          <p:cNvSpPr txBox="1"/>
          <p:nvPr/>
        </p:nvSpPr>
        <p:spPr>
          <a:xfrm>
            <a:off x="777239" y="4589271"/>
            <a:ext cx="16459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AuditLog</a:t>
            </a:r>
          </a:p>
        </p:txBody>
      </p:sp>
      <p:sp>
        <p:nvSpPr>
          <p:cNvPr id="210" name="Text 19"/>
          <p:cNvSpPr txBox="1"/>
          <p:nvPr/>
        </p:nvSpPr>
        <p:spPr>
          <a:xfrm>
            <a:off x="777239" y="4957572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actor · action (19 types) · target · metadata · ip · timestamp</a:t>
            </a:r>
          </a:p>
        </p:txBody>
      </p:sp>
      <p:sp>
        <p:nvSpPr>
          <p:cNvPr id="211" name="Shape 20"/>
          <p:cNvSpPr/>
          <p:nvPr/>
        </p:nvSpPr>
        <p:spPr>
          <a:xfrm>
            <a:off x="548640" y="5349240"/>
            <a:ext cx="5532121" cy="777241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21"/>
          <p:cNvSpPr/>
          <p:nvPr/>
        </p:nvSpPr>
        <p:spPr>
          <a:xfrm>
            <a:off x="548640" y="5349240"/>
            <a:ext cx="73153" cy="77724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22"/>
          <p:cNvSpPr txBox="1"/>
          <p:nvPr/>
        </p:nvSpPr>
        <p:spPr>
          <a:xfrm>
            <a:off x="777239" y="5457951"/>
            <a:ext cx="16459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RevokedToken</a:t>
            </a:r>
          </a:p>
        </p:txBody>
      </p:sp>
      <p:sp>
        <p:nvSpPr>
          <p:cNvPr id="214" name="Text 23"/>
          <p:cNvSpPr txBox="1"/>
          <p:nvPr/>
        </p:nvSpPr>
        <p:spPr>
          <a:xfrm>
            <a:off x="777239" y="5826251"/>
            <a:ext cx="51206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jti · expiresAt (TTL index)</a:t>
            </a:r>
          </a:p>
        </p:txBody>
      </p:sp>
      <p:sp>
        <p:nvSpPr>
          <p:cNvPr id="215" name="Text 24"/>
          <p:cNvSpPr txBox="1"/>
          <p:nvPr/>
        </p:nvSpPr>
        <p:spPr>
          <a:xfrm>
            <a:off x="6309359" y="1624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14B8A6"/>
                </a:solidFill>
              </a:defRPr>
            </a:lvl1pPr>
          </a:lstStyle>
          <a:p>
            <a:pPr/>
            <a:r>
              <a:t>API SURFACE</a:t>
            </a:r>
          </a:p>
        </p:txBody>
      </p:sp>
      <p:sp>
        <p:nvSpPr>
          <p:cNvPr id="216" name="Shape 25"/>
          <p:cNvSpPr/>
          <p:nvPr/>
        </p:nvSpPr>
        <p:spPr>
          <a:xfrm>
            <a:off x="6309359" y="1874520"/>
            <a:ext cx="5532121" cy="36576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26"/>
          <p:cNvSpPr txBox="1"/>
          <p:nvPr/>
        </p:nvSpPr>
        <p:spPr>
          <a:xfrm>
            <a:off x="6400800" y="1988864"/>
            <a:ext cx="19202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FFFFFF"/>
                </a:solidFill>
              </a:defRPr>
            </a:lvl1pPr>
          </a:lstStyle>
          <a:p>
            <a:pPr/>
            <a:r>
              <a:t>ENDPOINT</a:t>
            </a:r>
          </a:p>
        </p:txBody>
      </p:sp>
      <p:sp>
        <p:nvSpPr>
          <p:cNvPr id="218" name="Text 27"/>
          <p:cNvSpPr txBox="1"/>
          <p:nvPr/>
        </p:nvSpPr>
        <p:spPr>
          <a:xfrm>
            <a:off x="8366759" y="198886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FFFFFF"/>
                </a:solidFill>
              </a:defRPr>
            </a:lvl1pPr>
          </a:lstStyle>
          <a:p>
            <a:pPr/>
            <a:r>
              <a:t>CAPABILITIES</a:t>
            </a:r>
          </a:p>
        </p:txBody>
      </p:sp>
      <p:sp>
        <p:nvSpPr>
          <p:cNvPr id="219" name="Shape 28"/>
          <p:cNvSpPr/>
          <p:nvPr/>
        </p:nvSpPr>
        <p:spPr>
          <a:xfrm>
            <a:off x="6309359" y="2240279"/>
            <a:ext cx="5532121" cy="41148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29"/>
          <p:cNvSpPr txBox="1"/>
          <p:nvPr/>
        </p:nvSpPr>
        <p:spPr>
          <a:xfrm>
            <a:off x="6400800" y="2363469"/>
            <a:ext cx="19202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E94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/api/auth/*</a:t>
            </a:r>
          </a:p>
        </p:txBody>
      </p:sp>
      <p:sp>
        <p:nvSpPr>
          <p:cNvPr id="221" name="Text 30"/>
          <p:cNvSpPr txBox="1"/>
          <p:nvPr/>
        </p:nvSpPr>
        <p:spPr>
          <a:xfrm>
            <a:off x="8366759" y="237748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register · login · refresh · logout · me</a:t>
            </a:r>
          </a:p>
        </p:txBody>
      </p:sp>
      <p:sp>
        <p:nvSpPr>
          <p:cNvPr id="222" name="Text 31"/>
          <p:cNvSpPr txBox="1"/>
          <p:nvPr/>
        </p:nvSpPr>
        <p:spPr>
          <a:xfrm>
            <a:off x="6400800" y="2774950"/>
            <a:ext cx="19202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E94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/api/rooms/*</a:t>
            </a:r>
          </a:p>
        </p:txBody>
      </p:sp>
      <p:sp>
        <p:nvSpPr>
          <p:cNvPr id="223" name="Text 32"/>
          <p:cNvSpPr txBox="1"/>
          <p:nvPr/>
        </p:nvSpPr>
        <p:spPr>
          <a:xfrm>
            <a:off x="8366759" y="278896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list · detail · schedule · CRUD (admin)</a:t>
            </a:r>
          </a:p>
        </p:txBody>
      </p:sp>
      <p:sp>
        <p:nvSpPr>
          <p:cNvPr id="224" name="Shape 33"/>
          <p:cNvSpPr/>
          <p:nvPr/>
        </p:nvSpPr>
        <p:spPr>
          <a:xfrm>
            <a:off x="6309359" y="3063239"/>
            <a:ext cx="5532121" cy="41148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34"/>
          <p:cNvSpPr txBox="1"/>
          <p:nvPr/>
        </p:nvSpPr>
        <p:spPr>
          <a:xfrm>
            <a:off x="6400800" y="3186429"/>
            <a:ext cx="19202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E94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/api/bookings/*</a:t>
            </a:r>
          </a:p>
        </p:txBody>
      </p:sp>
      <p:sp>
        <p:nvSpPr>
          <p:cNvPr id="226" name="Text 35"/>
          <p:cNvSpPr txBox="1"/>
          <p:nvPr/>
        </p:nvSpPr>
        <p:spPr>
          <a:xfrm>
            <a:off x="8366759" y="320044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create · mine · approve · check-in · override</a:t>
            </a:r>
          </a:p>
        </p:txBody>
      </p:sp>
      <p:sp>
        <p:nvSpPr>
          <p:cNvPr id="227" name="Text 36"/>
          <p:cNvSpPr txBox="1"/>
          <p:nvPr/>
        </p:nvSpPr>
        <p:spPr>
          <a:xfrm>
            <a:off x="6400800" y="3597910"/>
            <a:ext cx="19202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E94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/api/users/*</a:t>
            </a:r>
          </a:p>
        </p:txBody>
      </p:sp>
      <p:sp>
        <p:nvSpPr>
          <p:cNvPr id="228" name="Text 37"/>
          <p:cNvSpPr txBox="1"/>
          <p:nvPr/>
        </p:nvSpPr>
        <p:spPr>
          <a:xfrm>
            <a:off x="8366759" y="361192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list · stats · suspend · role-change</a:t>
            </a:r>
          </a:p>
        </p:txBody>
      </p:sp>
      <p:sp>
        <p:nvSpPr>
          <p:cNvPr id="229" name="Shape 38"/>
          <p:cNvSpPr/>
          <p:nvPr/>
        </p:nvSpPr>
        <p:spPr>
          <a:xfrm>
            <a:off x="6309359" y="3886199"/>
            <a:ext cx="5532121" cy="41148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39"/>
          <p:cNvSpPr txBox="1"/>
          <p:nvPr/>
        </p:nvSpPr>
        <p:spPr>
          <a:xfrm>
            <a:off x="6400800" y="4009390"/>
            <a:ext cx="19202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E94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/api/audit/*</a:t>
            </a:r>
          </a:p>
        </p:txBody>
      </p:sp>
      <p:sp>
        <p:nvSpPr>
          <p:cNvPr id="231" name="Text 40"/>
          <p:cNvSpPr txBox="1"/>
          <p:nvPr/>
        </p:nvSpPr>
        <p:spPr>
          <a:xfrm>
            <a:off x="8366759" y="4023404"/>
            <a:ext cx="3474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11827"/>
                </a:solidFill>
              </a:defRPr>
            </a:lvl1pPr>
          </a:lstStyle>
          <a:p>
            <a:pPr/>
            <a:r>
              <a:t>paginated · recent · actions catalog</a:t>
            </a:r>
          </a:p>
        </p:txBody>
      </p:sp>
      <p:sp>
        <p:nvSpPr>
          <p:cNvPr id="232" name="Shape 41"/>
          <p:cNvSpPr/>
          <p:nvPr/>
        </p:nvSpPr>
        <p:spPr>
          <a:xfrm>
            <a:off x="6309359" y="4617720"/>
            <a:ext cx="5532121" cy="1645921"/>
          </a:xfrm>
          <a:prstGeom prst="roundRect">
            <a:avLst>
              <a:gd name="adj" fmla="val 4444"/>
            </a:avLst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42"/>
          <p:cNvSpPr txBox="1"/>
          <p:nvPr/>
        </p:nvSpPr>
        <p:spPr>
          <a:xfrm>
            <a:off x="6492240" y="4839969"/>
            <a:ext cx="51206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Layered validation.</a:t>
            </a:r>
          </a:p>
        </p:txBody>
      </p:sp>
      <p:sp>
        <p:nvSpPr>
          <p:cNvPr id="234" name="Text 43"/>
          <p:cNvSpPr txBox="1"/>
          <p:nvPr/>
        </p:nvSpPr>
        <p:spPr>
          <a:xfrm>
            <a:off x="6492240" y="5519595"/>
            <a:ext cx="52120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Route-layer express-validator schemas catch bad input early. Controllers re-check business rules. MongoDB's partial unique index is the final backstop.</a:t>
            </a:r>
          </a:p>
        </p:txBody>
      </p:sp>
      <p:sp>
        <p:nvSpPr>
          <p:cNvPr id="235" name="Text 44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236" name="Text 45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6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Concurrency &amp; Integrity</a:t>
            </a:r>
          </a:p>
        </p:txBody>
      </p:sp>
      <p:sp>
        <p:nvSpPr>
          <p:cNvPr id="240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Why two users clicking "Book" at the exact same millisecond still cannot double-book</a:t>
            </a:r>
          </a:p>
        </p:txBody>
      </p:sp>
      <p:sp>
        <p:nvSpPr>
          <p:cNvPr id="241" name="Text 3"/>
          <p:cNvSpPr txBox="1"/>
          <p:nvPr/>
        </p:nvSpPr>
        <p:spPr>
          <a:xfrm>
            <a:off x="548640" y="1624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FBBF24"/>
                </a:solidFill>
              </a:defRPr>
            </a:lvl1pPr>
          </a:lstStyle>
          <a:p>
            <a:pPr/>
            <a:r>
              <a:t>THE RACE CONDITION</a:t>
            </a:r>
          </a:p>
        </p:txBody>
      </p:sp>
      <p:sp>
        <p:nvSpPr>
          <p:cNvPr id="242" name="Shape 4"/>
          <p:cNvSpPr/>
          <p:nvPr/>
        </p:nvSpPr>
        <p:spPr>
          <a:xfrm>
            <a:off x="640080" y="1920239"/>
            <a:ext cx="1371601" cy="411481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5"/>
          <p:cNvSpPr txBox="1"/>
          <p:nvPr/>
        </p:nvSpPr>
        <p:spPr>
          <a:xfrm>
            <a:off x="640080" y="2047547"/>
            <a:ext cx="1371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User A</a:t>
            </a:r>
          </a:p>
        </p:txBody>
      </p:sp>
      <p:sp>
        <p:nvSpPr>
          <p:cNvPr id="244" name="Shape 6"/>
          <p:cNvSpPr/>
          <p:nvPr/>
        </p:nvSpPr>
        <p:spPr>
          <a:xfrm flipH="1">
            <a:off x="1325880" y="2331720"/>
            <a:ext cx="1" cy="3108961"/>
          </a:xfrm>
          <a:prstGeom prst="line">
            <a:avLst/>
          </a:prstGeom>
          <a:ln w="12700">
            <a:solidFill>
              <a:srgbClr val="E5E7E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7"/>
          <p:cNvSpPr/>
          <p:nvPr/>
        </p:nvSpPr>
        <p:spPr>
          <a:xfrm>
            <a:off x="2468879" y="1920239"/>
            <a:ext cx="1371601" cy="411481"/>
          </a:xfrm>
          <a:prstGeom prst="roundRect">
            <a:avLst>
              <a:gd name="adj" fmla="val 11111"/>
            </a:avLst>
          </a:prstGeom>
          <a:solidFill>
            <a:srgbClr val="0E9488"/>
          </a:solidFill>
          <a:ln w="12700">
            <a:solidFill>
              <a:srgbClr val="0E94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8"/>
          <p:cNvSpPr txBox="1"/>
          <p:nvPr/>
        </p:nvSpPr>
        <p:spPr>
          <a:xfrm>
            <a:off x="2468879" y="2047547"/>
            <a:ext cx="1371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User B</a:t>
            </a:r>
          </a:p>
        </p:txBody>
      </p:sp>
      <p:sp>
        <p:nvSpPr>
          <p:cNvPr id="247" name="Shape 9"/>
          <p:cNvSpPr/>
          <p:nvPr/>
        </p:nvSpPr>
        <p:spPr>
          <a:xfrm flipH="1">
            <a:off x="3154679" y="2331720"/>
            <a:ext cx="1" cy="3108961"/>
          </a:xfrm>
          <a:prstGeom prst="line">
            <a:avLst/>
          </a:prstGeom>
          <a:ln w="12700">
            <a:solidFill>
              <a:srgbClr val="E5E7E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Shape 10"/>
          <p:cNvSpPr/>
          <p:nvPr/>
        </p:nvSpPr>
        <p:spPr>
          <a:xfrm>
            <a:off x="4297679" y="1920239"/>
            <a:ext cx="1371601" cy="411481"/>
          </a:xfrm>
          <a:prstGeom prst="roundRect">
            <a:avLst>
              <a:gd name="adj" fmla="val 11111"/>
            </a:avLst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1"/>
          <p:cNvSpPr txBox="1"/>
          <p:nvPr/>
        </p:nvSpPr>
        <p:spPr>
          <a:xfrm>
            <a:off x="4297679" y="2047547"/>
            <a:ext cx="1371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MongoDB</a:t>
            </a:r>
          </a:p>
        </p:txBody>
      </p:sp>
      <p:sp>
        <p:nvSpPr>
          <p:cNvPr id="250" name="Shape 12"/>
          <p:cNvSpPr/>
          <p:nvPr/>
        </p:nvSpPr>
        <p:spPr>
          <a:xfrm flipH="1">
            <a:off x="4983479" y="2331720"/>
            <a:ext cx="1" cy="3108961"/>
          </a:xfrm>
          <a:prstGeom prst="line">
            <a:avLst/>
          </a:prstGeom>
          <a:ln w="12700">
            <a:solidFill>
              <a:srgbClr val="E5E7E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Shape 13"/>
          <p:cNvSpPr/>
          <p:nvPr/>
        </p:nvSpPr>
        <p:spPr>
          <a:xfrm>
            <a:off x="594359" y="2496311"/>
            <a:ext cx="201169" cy="201169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14"/>
          <p:cNvSpPr txBox="1"/>
          <p:nvPr/>
        </p:nvSpPr>
        <p:spPr>
          <a:xfrm>
            <a:off x="868680" y="2538906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11827"/>
                </a:solidFill>
              </a:defRPr>
            </a:lvl1pPr>
          </a:lstStyle>
          <a:p>
            <a:pPr/>
            <a:r>
              <a:t>1. both POST /api/bookings for 10:00 same room</a:t>
            </a:r>
          </a:p>
        </p:txBody>
      </p:sp>
      <p:sp>
        <p:nvSpPr>
          <p:cNvPr id="253" name="Shape 15"/>
          <p:cNvSpPr/>
          <p:nvPr/>
        </p:nvSpPr>
        <p:spPr>
          <a:xfrm>
            <a:off x="594359" y="2953511"/>
            <a:ext cx="201169" cy="201169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16"/>
          <p:cNvSpPr txBox="1"/>
          <p:nvPr/>
        </p:nvSpPr>
        <p:spPr>
          <a:xfrm>
            <a:off x="868680" y="2996106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11827"/>
                </a:solidFill>
              </a:defRPr>
            </a:lvl1pPr>
          </a:lstStyle>
          <a:p>
            <a:pPr/>
            <a:r>
              <a:t>2. MongoDB transaction opens — unique index on {room,date,startTime}</a:t>
            </a:r>
          </a:p>
        </p:txBody>
      </p:sp>
      <p:sp>
        <p:nvSpPr>
          <p:cNvPr id="255" name="Shape 17"/>
          <p:cNvSpPr/>
          <p:nvPr/>
        </p:nvSpPr>
        <p:spPr>
          <a:xfrm>
            <a:off x="594359" y="3410711"/>
            <a:ext cx="201169" cy="201169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18"/>
          <p:cNvSpPr txBox="1"/>
          <p:nvPr/>
        </p:nvSpPr>
        <p:spPr>
          <a:xfrm>
            <a:off x="868680" y="3453306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11827"/>
                </a:solidFill>
              </a:defRPr>
            </a:lvl1pPr>
          </a:lstStyle>
          <a:p>
            <a:pPr/>
            <a:r>
              <a:t>3. First write wins. Second hits E11000 duplicate key.</a:t>
            </a:r>
          </a:p>
        </p:txBody>
      </p:sp>
      <p:sp>
        <p:nvSpPr>
          <p:cNvPr id="257" name="Shape 19"/>
          <p:cNvSpPr/>
          <p:nvPr/>
        </p:nvSpPr>
        <p:spPr>
          <a:xfrm>
            <a:off x="594359" y="3867911"/>
            <a:ext cx="201169" cy="201169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0"/>
          <p:cNvSpPr txBox="1"/>
          <p:nvPr/>
        </p:nvSpPr>
        <p:spPr>
          <a:xfrm>
            <a:off x="868680" y="3910506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E9488"/>
                </a:solidFill>
              </a:defRPr>
            </a:lvl1pPr>
          </a:lstStyle>
          <a:p>
            <a:pPr/>
            <a:r>
              <a:t>4. Loser receives 409 + alternative room suggestions.</a:t>
            </a:r>
          </a:p>
        </p:txBody>
      </p:sp>
      <p:sp>
        <p:nvSpPr>
          <p:cNvPr id="259" name="Shape 21"/>
          <p:cNvSpPr/>
          <p:nvPr/>
        </p:nvSpPr>
        <p:spPr>
          <a:xfrm>
            <a:off x="548640" y="4663440"/>
            <a:ext cx="5532121" cy="1600201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22"/>
          <p:cNvSpPr txBox="1"/>
          <p:nvPr/>
        </p:nvSpPr>
        <p:spPr>
          <a:xfrm>
            <a:off x="777239" y="4884420"/>
            <a:ext cx="51206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3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Correctness is enforced at the database layer — not by in-memory locks.</a:t>
            </a:r>
          </a:p>
        </p:txBody>
      </p:sp>
      <p:sp>
        <p:nvSpPr>
          <p:cNvPr id="261" name="Text 23"/>
          <p:cNvSpPr txBox="1"/>
          <p:nvPr/>
        </p:nvSpPr>
        <p:spPr>
          <a:xfrm>
            <a:off x="777239" y="5655354"/>
            <a:ext cx="51206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Works identically under PM2 cluster mode, Kubernetes replicas, or behind any load balancer — because contention is resolved where the data lives.</a:t>
            </a:r>
          </a:p>
        </p:txBody>
      </p:sp>
      <p:sp>
        <p:nvSpPr>
          <p:cNvPr id="262" name="Text 24"/>
          <p:cNvSpPr txBox="1"/>
          <p:nvPr/>
        </p:nvSpPr>
        <p:spPr>
          <a:xfrm>
            <a:off x="6492240" y="1624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14B8A6"/>
                </a:solidFill>
              </a:defRPr>
            </a:lvl1pPr>
          </a:lstStyle>
          <a:p>
            <a:pPr/>
            <a:r>
              <a:t>WHAT IS GUARANTEED</a:t>
            </a:r>
          </a:p>
        </p:txBody>
      </p:sp>
      <p:sp>
        <p:nvSpPr>
          <p:cNvPr id="263" name="Shape 25"/>
          <p:cNvSpPr/>
          <p:nvPr/>
        </p:nvSpPr>
        <p:spPr>
          <a:xfrm>
            <a:off x="6492240" y="1920239"/>
            <a:ext cx="5440681" cy="96012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Shape 26"/>
          <p:cNvSpPr/>
          <p:nvPr/>
        </p:nvSpPr>
        <p:spPr>
          <a:xfrm>
            <a:off x="6492240" y="1920239"/>
            <a:ext cx="960121" cy="96012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27"/>
          <p:cNvSpPr txBox="1"/>
          <p:nvPr/>
        </p:nvSpPr>
        <p:spPr>
          <a:xfrm>
            <a:off x="6492240" y="2260599"/>
            <a:ext cx="9601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409</a:t>
            </a:r>
          </a:p>
        </p:txBody>
      </p:sp>
      <p:sp>
        <p:nvSpPr>
          <p:cNvPr id="266" name="Text 28"/>
          <p:cNvSpPr txBox="1"/>
          <p:nvPr/>
        </p:nvSpPr>
        <p:spPr>
          <a:xfrm>
            <a:off x="7589519" y="2253024"/>
            <a:ext cx="4297681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Conflict responses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000">
                <a:solidFill>
                  <a:srgbClr val="6B7280"/>
                </a:solidFill>
              </a:rPr>
              <a:t>under contention, never silent double-booking</a:t>
            </a:r>
          </a:p>
        </p:txBody>
      </p:sp>
      <p:sp>
        <p:nvSpPr>
          <p:cNvPr id="267" name="Shape 29"/>
          <p:cNvSpPr/>
          <p:nvPr/>
        </p:nvSpPr>
        <p:spPr>
          <a:xfrm>
            <a:off x="6492240" y="3017520"/>
            <a:ext cx="5440681" cy="96012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hape 30"/>
          <p:cNvSpPr/>
          <p:nvPr/>
        </p:nvSpPr>
        <p:spPr>
          <a:xfrm>
            <a:off x="6492240" y="3017520"/>
            <a:ext cx="960121" cy="96012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31"/>
          <p:cNvSpPr txBox="1"/>
          <p:nvPr/>
        </p:nvSpPr>
        <p:spPr>
          <a:xfrm>
            <a:off x="6492240" y="3357880"/>
            <a:ext cx="9601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UTC</a:t>
            </a:r>
          </a:p>
        </p:txBody>
      </p:sp>
      <p:sp>
        <p:nvSpPr>
          <p:cNvPr id="270" name="Text 32"/>
          <p:cNvSpPr txBox="1"/>
          <p:nvPr/>
        </p:nvSpPr>
        <p:spPr>
          <a:xfrm>
            <a:off x="7589519" y="3350304"/>
            <a:ext cx="4297681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Timezone-stable check-in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000">
                <a:solidFill>
                  <a:srgbClr val="6B7280"/>
                </a:solidFill>
              </a:rPr>
              <a:t>bookings persist startDateTimeUtc — no setHours() drift between host timezones</a:t>
            </a:r>
          </a:p>
        </p:txBody>
      </p:sp>
      <p:sp>
        <p:nvSpPr>
          <p:cNvPr id="271" name="Shape 33"/>
          <p:cNvSpPr/>
          <p:nvPr/>
        </p:nvSpPr>
        <p:spPr>
          <a:xfrm>
            <a:off x="6492240" y="4114800"/>
            <a:ext cx="5440681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Shape 34"/>
          <p:cNvSpPr/>
          <p:nvPr/>
        </p:nvSpPr>
        <p:spPr>
          <a:xfrm>
            <a:off x="6492240" y="4114800"/>
            <a:ext cx="960121" cy="9601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35"/>
          <p:cNvSpPr txBox="1"/>
          <p:nvPr/>
        </p:nvSpPr>
        <p:spPr>
          <a:xfrm>
            <a:off x="6492240" y="4455160"/>
            <a:ext cx="9601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TTL</a:t>
            </a:r>
          </a:p>
        </p:txBody>
      </p:sp>
      <p:sp>
        <p:nvSpPr>
          <p:cNvPr id="274" name="Text 36"/>
          <p:cNvSpPr txBox="1"/>
          <p:nvPr/>
        </p:nvSpPr>
        <p:spPr>
          <a:xfrm>
            <a:off x="7589519" y="4447584"/>
            <a:ext cx="4297681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Revocation store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000">
                <a:solidFill>
                  <a:srgbClr val="6B7280"/>
                </a:solidFill>
              </a:rPr>
              <a:t>logged-out jti values auto-expire, keeping the collection bounded</a:t>
            </a:r>
          </a:p>
        </p:txBody>
      </p:sp>
      <p:sp>
        <p:nvSpPr>
          <p:cNvPr id="275" name="Shape 37"/>
          <p:cNvSpPr/>
          <p:nvPr/>
        </p:nvSpPr>
        <p:spPr>
          <a:xfrm>
            <a:off x="6492240" y="5212079"/>
            <a:ext cx="5440681" cy="96012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38"/>
          <p:cNvSpPr/>
          <p:nvPr/>
        </p:nvSpPr>
        <p:spPr>
          <a:xfrm>
            <a:off x="6492240" y="5212079"/>
            <a:ext cx="960121" cy="960121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39"/>
          <p:cNvSpPr txBox="1"/>
          <p:nvPr/>
        </p:nvSpPr>
        <p:spPr>
          <a:xfrm>
            <a:off x="6492240" y="5552439"/>
            <a:ext cx="96012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404</a:t>
            </a:r>
          </a:p>
        </p:txBody>
      </p:sp>
      <p:sp>
        <p:nvSpPr>
          <p:cNvPr id="278" name="Text 40"/>
          <p:cNvSpPr txBox="1"/>
          <p:nvPr/>
        </p:nvSpPr>
        <p:spPr>
          <a:xfrm>
            <a:off x="7589519" y="5544864"/>
            <a:ext cx="4297681" cy="34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827"/>
                </a:solidFill>
              </a:defRPr>
            </a:pPr>
            <a:r>
              <a:t>Soft-delete visibility</a:t>
            </a:r>
          </a:p>
          <a:p>
            <a:pPr>
              <a:defRPr b="1" sz="1300">
                <a:solidFill>
                  <a:srgbClr val="111827"/>
                </a:solidFill>
              </a:defRPr>
            </a:pPr>
            <a:r>
              <a:rPr b="0" sz="1000">
                <a:solidFill>
                  <a:srgbClr val="6B7280"/>
                </a:solidFill>
              </a:rPr>
              <a:t>deactivated rooms disappear from every read path, so old links 404 cleanly</a:t>
            </a:r>
          </a:p>
        </p:txBody>
      </p:sp>
      <p:sp>
        <p:nvSpPr>
          <p:cNvPr id="279" name="Text 41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280" name="Text 42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7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Testing Strategy</a:t>
            </a:r>
          </a:p>
        </p:txBody>
      </p:sp>
      <p:sp>
        <p:nvSpPr>
          <p:cNvPr id="284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A layered pyramid — unit for logic, integration for flow, security for abuse</a:t>
            </a:r>
          </a:p>
        </p:txBody>
      </p:sp>
      <p:sp>
        <p:nvSpPr>
          <p:cNvPr id="285" name="Shape 3"/>
          <p:cNvSpPr/>
          <p:nvPr/>
        </p:nvSpPr>
        <p:spPr>
          <a:xfrm>
            <a:off x="548640" y="1554480"/>
            <a:ext cx="3474721" cy="4709160"/>
          </a:xfrm>
          <a:prstGeom prst="roundRect">
            <a:avLst>
              <a:gd name="adj" fmla="val 2632"/>
            </a:avLst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4"/>
          <p:cNvSpPr txBox="1"/>
          <p:nvPr/>
        </p:nvSpPr>
        <p:spPr>
          <a:xfrm>
            <a:off x="822959" y="1898826"/>
            <a:ext cx="29260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14B8A6"/>
                </a:solidFill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287" name="Text 5"/>
          <p:cNvSpPr txBox="1"/>
          <p:nvPr/>
        </p:nvSpPr>
        <p:spPr>
          <a:xfrm>
            <a:off x="731519" y="2368549"/>
            <a:ext cx="3108961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246</a:t>
            </a:r>
          </a:p>
        </p:txBody>
      </p:sp>
      <p:sp>
        <p:nvSpPr>
          <p:cNvPr id="288" name="Text 6"/>
          <p:cNvSpPr txBox="1"/>
          <p:nvPr/>
        </p:nvSpPr>
        <p:spPr>
          <a:xfrm>
            <a:off x="731519" y="3811270"/>
            <a:ext cx="31089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600">
                <a:solidFill>
                  <a:srgbClr val="CBD5E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automated tests</a:t>
            </a:r>
          </a:p>
        </p:txBody>
      </p:sp>
      <p:sp>
        <p:nvSpPr>
          <p:cNvPr id="289" name="Text 7"/>
          <p:cNvSpPr txBox="1"/>
          <p:nvPr/>
        </p:nvSpPr>
        <p:spPr>
          <a:xfrm>
            <a:off x="731519" y="4150667"/>
            <a:ext cx="31089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across 19 Jest suites</a:t>
            </a:r>
          </a:p>
        </p:txBody>
      </p:sp>
      <p:sp>
        <p:nvSpPr>
          <p:cNvPr id="290" name="Text 8"/>
          <p:cNvSpPr txBox="1"/>
          <p:nvPr/>
        </p:nvSpPr>
        <p:spPr>
          <a:xfrm>
            <a:off x="822959" y="471888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4B8A6"/>
                </a:solidFill>
              </a:defRPr>
            </a:pPr>
            <a:r>
              <a:t>~6s   </a:t>
            </a:r>
            <a:r>
              <a:rPr b="0" sz="1100">
                <a:solidFill>
                  <a:srgbClr val="CBD5E1"/>
                </a:solidFill>
              </a:rPr>
              <a:t>full suite runtime</a:t>
            </a:r>
          </a:p>
        </p:txBody>
      </p:sp>
      <p:sp>
        <p:nvSpPr>
          <p:cNvPr id="291" name="Text 9"/>
          <p:cNvSpPr txBox="1"/>
          <p:nvPr/>
        </p:nvSpPr>
        <p:spPr>
          <a:xfrm>
            <a:off x="822959" y="508464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4B8A6"/>
                </a:solidFill>
              </a:defRPr>
            </a:pPr>
            <a:r>
              <a:t>100%   </a:t>
            </a:r>
            <a:r>
              <a:rPr b="0" sz="1100">
                <a:solidFill>
                  <a:srgbClr val="CBD5E1"/>
                </a:solidFill>
              </a:rPr>
              <a:t>auth middleware coverage</a:t>
            </a:r>
          </a:p>
        </p:txBody>
      </p:sp>
      <p:sp>
        <p:nvSpPr>
          <p:cNvPr id="292" name="Text 10"/>
          <p:cNvSpPr txBox="1"/>
          <p:nvPr/>
        </p:nvSpPr>
        <p:spPr>
          <a:xfrm>
            <a:off x="822959" y="5450403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4B8A6"/>
                </a:solidFill>
              </a:defRPr>
            </a:pPr>
            <a:r>
              <a:t>98.9%   </a:t>
            </a:r>
            <a:r>
              <a:rPr b="0" sz="1100">
                <a:solidFill>
                  <a:srgbClr val="CBD5E1"/>
                </a:solidFill>
              </a:rPr>
              <a:t>bookingValidator statements</a:t>
            </a:r>
          </a:p>
        </p:txBody>
      </p:sp>
      <p:sp>
        <p:nvSpPr>
          <p:cNvPr id="293" name="Text 11"/>
          <p:cNvSpPr txBox="1"/>
          <p:nvPr/>
        </p:nvSpPr>
        <p:spPr>
          <a:xfrm>
            <a:off x="4297679" y="16245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0" sz="1100">
                <a:solidFill>
                  <a:srgbClr val="14B8A6"/>
                </a:solidFill>
              </a:defRPr>
            </a:lvl1pPr>
          </a:lstStyle>
          <a:p>
            <a:pPr/>
            <a:r>
              <a:t>SUITE BREAKDOWN</a:t>
            </a:r>
          </a:p>
        </p:txBody>
      </p:sp>
      <p:sp>
        <p:nvSpPr>
          <p:cNvPr id="294" name="Shape 12"/>
          <p:cNvSpPr/>
          <p:nvPr/>
        </p:nvSpPr>
        <p:spPr>
          <a:xfrm>
            <a:off x="4297679" y="1874520"/>
            <a:ext cx="7635242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13"/>
          <p:cNvSpPr/>
          <p:nvPr/>
        </p:nvSpPr>
        <p:spPr>
          <a:xfrm>
            <a:off x="4297679" y="1874520"/>
            <a:ext cx="1188721" cy="91440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4"/>
          <p:cNvSpPr txBox="1"/>
          <p:nvPr/>
        </p:nvSpPr>
        <p:spPr>
          <a:xfrm>
            <a:off x="4297679" y="1991359"/>
            <a:ext cx="118872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113</a:t>
            </a:r>
          </a:p>
        </p:txBody>
      </p:sp>
      <p:sp>
        <p:nvSpPr>
          <p:cNvPr id="297" name="Text 15"/>
          <p:cNvSpPr txBox="1"/>
          <p:nvPr/>
        </p:nvSpPr>
        <p:spPr>
          <a:xfrm>
            <a:off x="4297679" y="2533395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200" sz="900">
                <a:solidFill>
                  <a:srgbClr val="FFFFFF"/>
                </a:solidFill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298" name="Text 16"/>
          <p:cNvSpPr txBox="1"/>
          <p:nvPr/>
        </p:nvSpPr>
        <p:spPr>
          <a:xfrm>
            <a:off x="5623559" y="200431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Unit</a:t>
            </a:r>
          </a:p>
        </p:txBody>
      </p:sp>
      <p:sp>
        <p:nvSpPr>
          <p:cNvPr id="299" name="Text 17"/>
          <p:cNvSpPr txBox="1"/>
          <p:nvPr/>
        </p:nvSpPr>
        <p:spPr>
          <a:xfrm>
            <a:off x="5623559" y="2396656"/>
            <a:ext cx="6217921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timeValidator · overlapDetector · policyValidator · confirmationCode · intervalTree · lockManager · priorityCalculator · recurrenceEngine</a:t>
            </a:r>
          </a:p>
        </p:txBody>
      </p:sp>
      <p:sp>
        <p:nvSpPr>
          <p:cNvPr id="300" name="Shape 18"/>
          <p:cNvSpPr/>
          <p:nvPr/>
        </p:nvSpPr>
        <p:spPr>
          <a:xfrm>
            <a:off x="4297679" y="2880360"/>
            <a:ext cx="7635242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Shape 19"/>
          <p:cNvSpPr/>
          <p:nvPr/>
        </p:nvSpPr>
        <p:spPr>
          <a:xfrm>
            <a:off x="4297679" y="2880360"/>
            <a:ext cx="1188721" cy="914401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20"/>
          <p:cNvSpPr txBox="1"/>
          <p:nvPr/>
        </p:nvSpPr>
        <p:spPr>
          <a:xfrm>
            <a:off x="4297679" y="2997199"/>
            <a:ext cx="118872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67</a:t>
            </a:r>
          </a:p>
        </p:txBody>
      </p:sp>
      <p:sp>
        <p:nvSpPr>
          <p:cNvPr id="303" name="Text 21"/>
          <p:cNvSpPr txBox="1"/>
          <p:nvPr/>
        </p:nvSpPr>
        <p:spPr>
          <a:xfrm>
            <a:off x="4297679" y="3539236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200" sz="900">
                <a:solidFill>
                  <a:srgbClr val="FFFFFF"/>
                </a:solidFill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304" name="Text 22"/>
          <p:cNvSpPr txBox="1"/>
          <p:nvPr/>
        </p:nvSpPr>
        <p:spPr>
          <a:xfrm>
            <a:off x="5623559" y="301015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Integration</a:t>
            </a:r>
          </a:p>
        </p:txBody>
      </p:sp>
      <p:sp>
        <p:nvSpPr>
          <p:cNvPr id="305" name="Text 23"/>
          <p:cNvSpPr txBox="1"/>
          <p:nvPr/>
        </p:nvSpPr>
        <p:spPr>
          <a:xfrm>
            <a:off x="5623559" y="3402496"/>
            <a:ext cx="6217921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bookingCreation · bookingCancellation · bookingCheckIn · approvalRace · recurringQuota · roomApi · userApi — with mongodb-memory-server</a:t>
            </a:r>
          </a:p>
        </p:txBody>
      </p:sp>
      <p:sp>
        <p:nvSpPr>
          <p:cNvPr id="306" name="Shape 24"/>
          <p:cNvSpPr/>
          <p:nvPr/>
        </p:nvSpPr>
        <p:spPr>
          <a:xfrm>
            <a:off x="4297679" y="3886200"/>
            <a:ext cx="763524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25"/>
          <p:cNvSpPr/>
          <p:nvPr/>
        </p:nvSpPr>
        <p:spPr>
          <a:xfrm>
            <a:off x="4297679" y="3886200"/>
            <a:ext cx="1188721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26"/>
          <p:cNvSpPr txBox="1"/>
          <p:nvPr/>
        </p:nvSpPr>
        <p:spPr>
          <a:xfrm>
            <a:off x="4297679" y="4003040"/>
            <a:ext cx="118872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309" name="Text 27"/>
          <p:cNvSpPr txBox="1"/>
          <p:nvPr/>
        </p:nvSpPr>
        <p:spPr>
          <a:xfrm>
            <a:off x="4297679" y="4545075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200" sz="900">
                <a:solidFill>
                  <a:srgbClr val="FFFFFF"/>
                </a:solidFill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310" name="Text 28"/>
          <p:cNvSpPr txBox="1"/>
          <p:nvPr/>
        </p:nvSpPr>
        <p:spPr>
          <a:xfrm>
            <a:off x="5623559" y="401599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311" name="Text 29"/>
          <p:cNvSpPr txBox="1"/>
          <p:nvPr/>
        </p:nvSpPr>
        <p:spPr>
          <a:xfrm>
            <a:off x="5623559" y="4471923"/>
            <a:ext cx="6217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nosqlInjection (34 tests) · massAssignment (14 tests) — covers $-operator rejection, regex escaping, protected-field enforcement</a:t>
            </a:r>
          </a:p>
        </p:txBody>
      </p:sp>
      <p:sp>
        <p:nvSpPr>
          <p:cNvPr id="312" name="Shape 30"/>
          <p:cNvSpPr/>
          <p:nvPr/>
        </p:nvSpPr>
        <p:spPr>
          <a:xfrm>
            <a:off x="4297679" y="4892040"/>
            <a:ext cx="7635242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31"/>
          <p:cNvSpPr/>
          <p:nvPr/>
        </p:nvSpPr>
        <p:spPr>
          <a:xfrm>
            <a:off x="4297679" y="4892040"/>
            <a:ext cx="1188721" cy="914401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32"/>
          <p:cNvSpPr txBox="1"/>
          <p:nvPr/>
        </p:nvSpPr>
        <p:spPr>
          <a:xfrm>
            <a:off x="4297679" y="5008879"/>
            <a:ext cx="118872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15" name="Text 33"/>
          <p:cNvSpPr txBox="1"/>
          <p:nvPr/>
        </p:nvSpPr>
        <p:spPr>
          <a:xfrm>
            <a:off x="4297679" y="5550915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200" sz="900">
                <a:solidFill>
                  <a:srgbClr val="FFFFFF"/>
                </a:solidFill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316" name="Text 34"/>
          <p:cNvSpPr txBox="1"/>
          <p:nvPr/>
        </p:nvSpPr>
        <p:spPr>
          <a:xfrm>
            <a:off x="5623559" y="502183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Edge</a:t>
            </a:r>
          </a:p>
        </p:txBody>
      </p:sp>
      <p:sp>
        <p:nvSpPr>
          <p:cNvPr id="317" name="Text 35"/>
          <p:cNvSpPr txBox="1"/>
          <p:nvPr/>
        </p:nvSpPr>
        <p:spPr>
          <a:xfrm>
            <a:off x="5623559" y="5477763"/>
            <a:ext cx="6217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duration boundaries · XSS payloads · JWT tampering · operating-hours limits · buffer conflicts</a:t>
            </a:r>
          </a:p>
        </p:txBody>
      </p:sp>
      <p:sp>
        <p:nvSpPr>
          <p:cNvPr id="318" name="Shape 36"/>
          <p:cNvSpPr/>
          <p:nvPr/>
        </p:nvSpPr>
        <p:spPr>
          <a:xfrm>
            <a:off x="4297679" y="5989320"/>
            <a:ext cx="7635242" cy="457201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37"/>
          <p:cNvSpPr txBox="1"/>
          <p:nvPr/>
        </p:nvSpPr>
        <p:spPr>
          <a:xfrm>
            <a:off x="4480559" y="6135370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$ </a:t>
            </a:r>
            <a:r>
              <a:rPr>
                <a:solidFill>
                  <a:srgbClr val="FFFFFF"/>
                </a:solidFill>
              </a:rPr>
              <a:t>npm test</a:t>
            </a:r>
            <a:r>
              <a:rPr b="0">
                <a:solidFill>
                  <a:srgbClr val="64748B"/>
                </a:solidFill>
              </a:rPr>
              <a:t>   ·   </a:t>
            </a:r>
            <a:r>
              <a:rPr b="0">
                <a:solidFill>
                  <a:srgbClr val="FFFFFF"/>
                </a:solidFill>
              </a:rPr>
              <a:t>npm run test:unit</a:t>
            </a:r>
            <a:r>
              <a:rPr b="0">
                <a:solidFill>
                  <a:srgbClr val="64748B"/>
                </a:solidFill>
              </a:rPr>
              <a:t>   ·   </a:t>
            </a:r>
            <a:r>
              <a:rPr b="0">
                <a:solidFill>
                  <a:srgbClr val="FFFFFF"/>
                </a:solidFill>
              </a:rPr>
              <a:t>npm run test:coverage</a:t>
            </a:r>
          </a:p>
        </p:txBody>
      </p:sp>
      <p:sp>
        <p:nvSpPr>
          <p:cNvPr id="320" name="Text 38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321" name="Text 39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8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548640" y="502919"/>
            <a:ext cx="201169" cy="2011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1"/>
          <p:cNvSpPr txBox="1"/>
          <p:nvPr/>
        </p:nvSpPr>
        <p:spPr>
          <a:xfrm>
            <a:off x="868679" y="432307"/>
            <a:ext cx="106070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Live Demo — Seven Steps</a:t>
            </a:r>
          </a:p>
        </p:txBody>
      </p:sp>
      <p:sp>
        <p:nvSpPr>
          <p:cNvPr id="325" name="Text 2"/>
          <p:cNvSpPr txBox="1"/>
          <p:nvPr/>
        </p:nvSpPr>
        <p:spPr>
          <a:xfrm>
            <a:off x="868679" y="991039"/>
            <a:ext cx="10607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7280"/>
                </a:solidFill>
              </a:defRPr>
            </a:lvl1pPr>
          </a:lstStyle>
          <a:p>
            <a:pPr/>
            <a:r>
              <a:t>Two browser tabs: Admin in one, Student in the other (or incognito)</a:t>
            </a:r>
          </a:p>
        </p:txBody>
      </p:sp>
      <p:sp>
        <p:nvSpPr>
          <p:cNvPr id="326" name="Shape 3"/>
          <p:cNvSpPr/>
          <p:nvPr/>
        </p:nvSpPr>
        <p:spPr>
          <a:xfrm>
            <a:off x="548640" y="1554480"/>
            <a:ext cx="11064241" cy="640081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Text 4"/>
          <p:cNvSpPr txBox="1"/>
          <p:nvPr/>
        </p:nvSpPr>
        <p:spPr>
          <a:xfrm>
            <a:off x="777239" y="1808969"/>
            <a:ext cx="10607042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400" sz="1000">
                <a:solidFill>
                  <a:srgbClr val="FBBF24"/>
                </a:solidFill>
              </a:defRPr>
            </a:pPr>
            <a:r>
              <a:t>PRE-FLIGHT   </a:t>
            </a:r>
            <a:r>
              <a:rPr b="0" spc="0" sz="1100">
                <a:solidFill>
                  <a:srgbClr val="111827"/>
                </a:solidFill>
              </a:rPr>
              <a:t>MongoDB up  ·  </a:t>
            </a:r>
            <a:r>
              <a:rPr b="0" spc="0" sz="1100">
                <a:solidFill>
                  <a:srgbClr val="6B7280"/>
                </a:solidFill>
              </a:rPr>
              <a:t>backend: </a:t>
            </a:r>
            <a:r>
              <a:rPr spc="0" sz="1100">
                <a:solidFill>
                  <a:srgbClr val="0B2447"/>
                </a:solidFill>
              </a:rPr>
              <a:t>cd backend &amp;&amp; npm run dev</a:t>
            </a:r>
            <a:r>
              <a:rPr b="0" spc="0" sz="1100">
                <a:solidFill>
                  <a:srgbClr val="6B7280"/>
                </a:solidFill>
              </a:rPr>
              <a:t>   ·   frontend: </a:t>
            </a:r>
            <a:r>
              <a:rPr spc="0" sz="1100">
                <a:solidFill>
                  <a:srgbClr val="0B2447"/>
                </a:solidFill>
              </a:rPr>
              <a:t>cd frontend &amp;&amp; npm run dev</a:t>
            </a:r>
            <a:r>
              <a:rPr b="0" spc="0" sz="1100">
                <a:solidFill>
                  <a:srgbClr val="6B7280"/>
                </a:solidFill>
              </a:rPr>
              <a:t>   ·   seed: </a:t>
            </a:r>
            <a:r>
              <a:rPr spc="0" sz="1100">
                <a:solidFill>
                  <a:srgbClr val="0B2447"/>
                </a:solidFill>
              </a:rPr>
              <a:t>AUTO_SEED_ON_EMPTY=true</a:t>
            </a:r>
          </a:p>
        </p:txBody>
      </p:sp>
      <p:sp>
        <p:nvSpPr>
          <p:cNvPr id="328" name="Shape 5"/>
          <p:cNvSpPr/>
          <p:nvPr/>
        </p:nvSpPr>
        <p:spPr>
          <a:xfrm>
            <a:off x="548640" y="2331720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Shape 6"/>
          <p:cNvSpPr/>
          <p:nvPr/>
        </p:nvSpPr>
        <p:spPr>
          <a:xfrm>
            <a:off x="731519" y="2514599"/>
            <a:ext cx="502921" cy="5029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7"/>
          <p:cNvSpPr txBox="1"/>
          <p:nvPr/>
        </p:nvSpPr>
        <p:spPr>
          <a:xfrm>
            <a:off x="731519" y="263270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1" name="Text 8"/>
          <p:cNvSpPr txBox="1"/>
          <p:nvPr/>
        </p:nvSpPr>
        <p:spPr>
          <a:xfrm>
            <a:off x="731519" y="3190240"/>
            <a:ext cx="21945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Room Discovery</a:t>
            </a:r>
          </a:p>
        </p:txBody>
      </p:sp>
      <p:sp>
        <p:nvSpPr>
          <p:cNvPr id="332" name="Text 9"/>
          <p:cNvSpPr txBox="1"/>
          <p:nvPr/>
        </p:nvSpPr>
        <p:spPr>
          <a:xfrm>
            <a:off x="731519" y="3474720"/>
            <a:ext cx="2194561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Filter by building, type, and capacity. Open a room — show detail + FullCalendar with live availability.</a:t>
            </a:r>
          </a:p>
        </p:txBody>
      </p:sp>
      <p:sp>
        <p:nvSpPr>
          <p:cNvPr id="333" name="Shape 10"/>
          <p:cNvSpPr/>
          <p:nvPr/>
        </p:nvSpPr>
        <p:spPr>
          <a:xfrm>
            <a:off x="3383279" y="2331720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Shape 11"/>
          <p:cNvSpPr/>
          <p:nvPr/>
        </p:nvSpPr>
        <p:spPr>
          <a:xfrm>
            <a:off x="3566159" y="2514599"/>
            <a:ext cx="502921" cy="5029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12"/>
          <p:cNvSpPr txBox="1"/>
          <p:nvPr/>
        </p:nvSpPr>
        <p:spPr>
          <a:xfrm>
            <a:off x="3566159" y="263270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6" name="Text 13"/>
          <p:cNvSpPr txBox="1"/>
          <p:nvPr/>
        </p:nvSpPr>
        <p:spPr>
          <a:xfrm>
            <a:off x="3566159" y="3190240"/>
            <a:ext cx="21945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Create a Booking</a:t>
            </a:r>
          </a:p>
        </p:txBody>
      </p:sp>
      <p:sp>
        <p:nvSpPr>
          <p:cNvPr id="337" name="Text 14"/>
          <p:cNvSpPr txBox="1"/>
          <p:nvPr/>
        </p:nvSpPr>
        <p:spPr>
          <a:xfrm>
            <a:off x="3566159" y="3474720"/>
            <a:ext cx="2194561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As student: pick a slot, set title + attendees. Confirmation code appears. Show entry in My Bookings.</a:t>
            </a:r>
          </a:p>
        </p:txBody>
      </p:sp>
      <p:sp>
        <p:nvSpPr>
          <p:cNvPr id="338" name="Shape 15"/>
          <p:cNvSpPr/>
          <p:nvPr/>
        </p:nvSpPr>
        <p:spPr>
          <a:xfrm>
            <a:off x="6217920" y="2331720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hape 16"/>
          <p:cNvSpPr/>
          <p:nvPr/>
        </p:nvSpPr>
        <p:spPr>
          <a:xfrm>
            <a:off x="6400799" y="2514599"/>
            <a:ext cx="502922" cy="5029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17"/>
          <p:cNvSpPr txBox="1"/>
          <p:nvPr/>
        </p:nvSpPr>
        <p:spPr>
          <a:xfrm>
            <a:off x="6400799" y="2632709"/>
            <a:ext cx="50292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1" name="Text 18"/>
          <p:cNvSpPr txBox="1"/>
          <p:nvPr/>
        </p:nvSpPr>
        <p:spPr>
          <a:xfrm>
            <a:off x="6400799" y="3190240"/>
            <a:ext cx="21945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Trigger a Conflict</a:t>
            </a:r>
          </a:p>
        </p:txBody>
      </p:sp>
      <p:sp>
        <p:nvSpPr>
          <p:cNvPr id="342" name="Text 19"/>
          <p:cNvSpPr txBox="1"/>
          <p:nvPr/>
        </p:nvSpPr>
        <p:spPr>
          <a:xfrm>
            <a:off x="6400799" y="3474720"/>
            <a:ext cx="2194562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Try an overlapping slot on the same room. Show the 409 response and the alternative-room suggestions.</a:t>
            </a:r>
          </a:p>
        </p:txBody>
      </p:sp>
      <p:sp>
        <p:nvSpPr>
          <p:cNvPr id="343" name="Shape 20"/>
          <p:cNvSpPr/>
          <p:nvPr/>
        </p:nvSpPr>
        <p:spPr>
          <a:xfrm>
            <a:off x="9052559" y="2331720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Shape 21"/>
          <p:cNvSpPr/>
          <p:nvPr/>
        </p:nvSpPr>
        <p:spPr>
          <a:xfrm>
            <a:off x="9235440" y="2514599"/>
            <a:ext cx="502921" cy="5029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22"/>
          <p:cNvSpPr txBox="1"/>
          <p:nvPr/>
        </p:nvSpPr>
        <p:spPr>
          <a:xfrm>
            <a:off x="9235440" y="263270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6" name="Text 23"/>
          <p:cNvSpPr txBox="1"/>
          <p:nvPr/>
        </p:nvSpPr>
        <p:spPr>
          <a:xfrm>
            <a:off x="9235440" y="3190240"/>
            <a:ext cx="21945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Approval Flow</a:t>
            </a:r>
          </a:p>
        </p:txBody>
      </p:sp>
      <p:sp>
        <p:nvSpPr>
          <p:cNvPr id="347" name="Text 24"/>
          <p:cNvSpPr txBox="1"/>
          <p:nvPr/>
        </p:nvSpPr>
        <p:spPr>
          <a:xfrm>
            <a:off x="9235440" y="3474720"/>
            <a:ext cx="2194561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Book a room with requiresApproval=true → status pending. Switch to admin tab and approve. Student sees approved.</a:t>
            </a:r>
          </a:p>
        </p:txBody>
      </p:sp>
      <p:sp>
        <p:nvSpPr>
          <p:cNvPr id="348" name="Shape 25"/>
          <p:cNvSpPr/>
          <p:nvPr/>
        </p:nvSpPr>
        <p:spPr>
          <a:xfrm>
            <a:off x="548640" y="4526279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Shape 26"/>
          <p:cNvSpPr/>
          <p:nvPr/>
        </p:nvSpPr>
        <p:spPr>
          <a:xfrm>
            <a:off x="731519" y="4709159"/>
            <a:ext cx="502921" cy="50292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27"/>
          <p:cNvSpPr txBox="1"/>
          <p:nvPr/>
        </p:nvSpPr>
        <p:spPr>
          <a:xfrm>
            <a:off x="731519" y="482726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1" name="Text 28"/>
          <p:cNvSpPr txBox="1"/>
          <p:nvPr/>
        </p:nvSpPr>
        <p:spPr>
          <a:xfrm>
            <a:off x="731519" y="5384800"/>
            <a:ext cx="21945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Check-in Window</a:t>
            </a:r>
          </a:p>
        </p:txBody>
      </p:sp>
      <p:sp>
        <p:nvSpPr>
          <p:cNvPr id="352" name="Text 29"/>
          <p:cNvSpPr txBox="1"/>
          <p:nvPr/>
        </p:nvSpPr>
        <p:spPr>
          <a:xfrm>
            <a:off x="731519" y="5669279"/>
            <a:ext cx="219456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Try check-in before the slot — rejected. During the slot — accepted. Outside the slot — rejected.</a:t>
            </a:r>
          </a:p>
        </p:txBody>
      </p:sp>
      <p:sp>
        <p:nvSpPr>
          <p:cNvPr id="353" name="Shape 30"/>
          <p:cNvSpPr/>
          <p:nvPr/>
        </p:nvSpPr>
        <p:spPr>
          <a:xfrm>
            <a:off x="3383279" y="4526279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Shape 31"/>
          <p:cNvSpPr/>
          <p:nvPr/>
        </p:nvSpPr>
        <p:spPr>
          <a:xfrm>
            <a:off x="3566159" y="4709159"/>
            <a:ext cx="502921" cy="50292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32"/>
          <p:cNvSpPr txBox="1"/>
          <p:nvPr/>
        </p:nvSpPr>
        <p:spPr>
          <a:xfrm>
            <a:off x="3566159" y="482726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56" name="Text 33"/>
          <p:cNvSpPr txBox="1"/>
          <p:nvPr/>
        </p:nvSpPr>
        <p:spPr>
          <a:xfrm>
            <a:off x="3566159" y="5384800"/>
            <a:ext cx="21945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Admin Controls</a:t>
            </a:r>
          </a:p>
        </p:txBody>
      </p:sp>
      <p:sp>
        <p:nvSpPr>
          <p:cNvPr id="357" name="Text 34"/>
          <p:cNvSpPr txBox="1"/>
          <p:nvPr/>
        </p:nvSpPr>
        <p:spPr>
          <a:xfrm>
            <a:off x="3566159" y="5669279"/>
            <a:ext cx="219456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Soft-delete a room (isActive=false). Refresh student list — it disappears. Change a user role or suspend.</a:t>
            </a:r>
          </a:p>
        </p:txBody>
      </p:sp>
      <p:sp>
        <p:nvSpPr>
          <p:cNvPr id="358" name="Shape 35"/>
          <p:cNvSpPr/>
          <p:nvPr/>
        </p:nvSpPr>
        <p:spPr>
          <a:xfrm>
            <a:off x="6217920" y="4526279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Shape 36"/>
          <p:cNvSpPr/>
          <p:nvPr/>
        </p:nvSpPr>
        <p:spPr>
          <a:xfrm>
            <a:off x="6400799" y="4709159"/>
            <a:ext cx="502922" cy="502921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37"/>
          <p:cNvSpPr txBox="1"/>
          <p:nvPr/>
        </p:nvSpPr>
        <p:spPr>
          <a:xfrm>
            <a:off x="6400799" y="4827269"/>
            <a:ext cx="50292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61" name="Text 38"/>
          <p:cNvSpPr txBox="1"/>
          <p:nvPr/>
        </p:nvSpPr>
        <p:spPr>
          <a:xfrm>
            <a:off x="6400799" y="5384800"/>
            <a:ext cx="21945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Audit Visibility</a:t>
            </a:r>
          </a:p>
        </p:txBody>
      </p:sp>
      <p:sp>
        <p:nvSpPr>
          <p:cNvPr id="362" name="Text 39"/>
          <p:cNvSpPr txBox="1"/>
          <p:nvPr/>
        </p:nvSpPr>
        <p:spPr>
          <a:xfrm>
            <a:off x="6400799" y="5669279"/>
            <a:ext cx="2194562" cy="632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Open Audit Log. Show entries from the demo session: booking.created, booking.approved, room.deleted, user.suspended.</a:t>
            </a:r>
          </a:p>
        </p:txBody>
      </p:sp>
      <p:sp>
        <p:nvSpPr>
          <p:cNvPr id="363" name="Shape 40"/>
          <p:cNvSpPr/>
          <p:nvPr/>
        </p:nvSpPr>
        <p:spPr>
          <a:xfrm>
            <a:off x="9052559" y="4526279"/>
            <a:ext cx="2560321" cy="1965961"/>
          </a:xfrm>
          <a:prstGeom prst="roundRect">
            <a:avLst>
              <a:gd name="adj" fmla="val 3721"/>
            </a:avLst>
          </a:prstGeom>
          <a:solidFill>
            <a:srgbClr val="0B2447"/>
          </a:solidFill>
          <a:ln w="12700">
            <a:solidFill>
              <a:srgbClr val="0B24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Shape 41"/>
          <p:cNvSpPr/>
          <p:nvPr/>
        </p:nvSpPr>
        <p:spPr>
          <a:xfrm>
            <a:off x="9052559" y="4526279"/>
            <a:ext cx="91441" cy="1965961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42"/>
          <p:cNvSpPr txBox="1"/>
          <p:nvPr/>
        </p:nvSpPr>
        <p:spPr>
          <a:xfrm>
            <a:off x="9326880" y="4777784"/>
            <a:ext cx="21945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000">
                <a:solidFill>
                  <a:srgbClr val="FBBF24"/>
                </a:solidFill>
              </a:defRPr>
            </a:lvl1pPr>
          </a:lstStyle>
          <a:p>
            <a:pPr/>
            <a:r>
              <a:t>Talking point</a:t>
            </a:r>
          </a:p>
        </p:txBody>
      </p:sp>
      <p:sp>
        <p:nvSpPr>
          <p:cNvPr id="366" name="Text 43"/>
          <p:cNvSpPr txBox="1"/>
          <p:nvPr/>
        </p:nvSpPr>
        <p:spPr>
          <a:xfrm>
            <a:off x="9326880" y="5387339"/>
            <a:ext cx="21945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Every action in steps 1–6 produces an entry in step 7. That's layered design — not audit-as-afterthought.</a:t>
            </a:r>
          </a:p>
        </p:txBody>
      </p:sp>
      <p:sp>
        <p:nvSpPr>
          <p:cNvPr id="367" name="Text 44"/>
          <p:cNvSpPr txBox="1"/>
          <p:nvPr/>
        </p:nvSpPr>
        <p:spPr>
          <a:xfrm>
            <a:off x="548640" y="6588759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Campus Booking System  •  Project Presentation</a:t>
            </a:r>
          </a:p>
        </p:txBody>
      </p:sp>
      <p:sp>
        <p:nvSpPr>
          <p:cNvPr id="368" name="Text 45"/>
          <p:cNvSpPr txBox="1"/>
          <p:nvPr/>
        </p:nvSpPr>
        <p:spPr>
          <a:xfrm>
            <a:off x="11064240" y="658875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9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-1" y="0"/>
            <a:ext cx="36576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1"/>
          <p:cNvSpPr/>
          <p:nvPr/>
        </p:nvSpPr>
        <p:spPr>
          <a:xfrm>
            <a:off x="822960" y="548640"/>
            <a:ext cx="274321" cy="274321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2"/>
          <p:cNvSpPr txBox="1"/>
          <p:nvPr/>
        </p:nvSpPr>
        <p:spPr>
          <a:xfrm>
            <a:off x="822960" y="979740"/>
            <a:ext cx="10058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600" sz="1400">
                <a:solidFill>
                  <a:srgbClr val="14B8A6"/>
                </a:solidFill>
              </a:defRPr>
            </a:lvl1pPr>
          </a:lstStyle>
          <a:p>
            <a:pPr/>
            <a:r>
              <a:t>WHAT'S NEXT</a:t>
            </a:r>
          </a:p>
        </p:txBody>
      </p:sp>
      <p:sp>
        <p:nvSpPr>
          <p:cNvPr id="373" name="Text 3"/>
          <p:cNvSpPr txBox="1"/>
          <p:nvPr/>
        </p:nvSpPr>
        <p:spPr>
          <a:xfrm>
            <a:off x="822960" y="1353820"/>
            <a:ext cx="100584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Roadmap &amp; Closing</a:t>
            </a:r>
          </a:p>
        </p:txBody>
      </p:sp>
      <p:sp>
        <p:nvSpPr>
          <p:cNvPr id="374" name="Shape 4"/>
          <p:cNvSpPr/>
          <p:nvPr/>
        </p:nvSpPr>
        <p:spPr>
          <a:xfrm>
            <a:off x="822960" y="2331720"/>
            <a:ext cx="2571751" cy="1783080"/>
          </a:xfrm>
          <a:prstGeom prst="roundRect">
            <a:avLst>
              <a:gd name="adj" fmla="val 4103"/>
            </a:avLst>
          </a:prstGeom>
          <a:solidFill>
            <a:srgbClr val="19376D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Shape 5"/>
          <p:cNvSpPr/>
          <p:nvPr/>
        </p:nvSpPr>
        <p:spPr>
          <a:xfrm>
            <a:off x="1051560" y="2514599"/>
            <a:ext cx="274321" cy="2743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6"/>
          <p:cNvSpPr txBox="1"/>
          <p:nvPr/>
        </p:nvSpPr>
        <p:spPr>
          <a:xfrm>
            <a:off x="1051560" y="2562860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77" name="Text 7"/>
          <p:cNvSpPr txBox="1"/>
          <p:nvPr/>
        </p:nvSpPr>
        <p:spPr>
          <a:xfrm>
            <a:off x="1051560" y="3007360"/>
            <a:ext cx="211455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Distributed revocation</a:t>
            </a:r>
          </a:p>
        </p:txBody>
      </p:sp>
      <p:sp>
        <p:nvSpPr>
          <p:cNvPr id="378" name="Text 8"/>
          <p:cNvSpPr txBox="1"/>
          <p:nvPr/>
        </p:nvSpPr>
        <p:spPr>
          <a:xfrm>
            <a:off x="1051560" y="3552234"/>
            <a:ext cx="211455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Redis-backed jti store for multi-region deployments.</a:t>
            </a:r>
          </a:p>
        </p:txBody>
      </p:sp>
      <p:sp>
        <p:nvSpPr>
          <p:cNvPr id="379" name="Shape 9"/>
          <p:cNvSpPr/>
          <p:nvPr/>
        </p:nvSpPr>
        <p:spPr>
          <a:xfrm>
            <a:off x="3623309" y="2331720"/>
            <a:ext cx="2571751" cy="1783080"/>
          </a:xfrm>
          <a:prstGeom prst="roundRect">
            <a:avLst>
              <a:gd name="adj" fmla="val 4103"/>
            </a:avLst>
          </a:prstGeom>
          <a:solidFill>
            <a:srgbClr val="19376D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Shape 10"/>
          <p:cNvSpPr/>
          <p:nvPr/>
        </p:nvSpPr>
        <p:spPr>
          <a:xfrm>
            <a:off x="3851909" y="2514599"/>
            <a:ext cx="274321" cy="2743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11"/>
          <p:cNvSpPr txBox="1"/>
          <p:nvPr/>
        </p:nvSpPr>
        <p:spPr>
          <a:xfrm>
            <a:off x="3851909" y="2562860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2" name="Text 12"/>
          <p:cNvSpPr txBox="1"/>
          <p:nvPr/>
        </p:nvSpPr>
        <p:spPr>
          <a:xfrm>
            <a:off x="3851909" y="3007360"/>
            <a:ext cx="211455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CI quality gates</a:t>
            </a:r>
          </a:p>
        </p:txBody>
      </p:sp>
      <p:sp>
        <p:nvSpPr>
          <p:cNvPr id="383" name="Text 13"/>
          <p:cNvSpPr txBox="1"/>
          <p:nvPr/>
        </p:nvSpPr>
        <p:spPr>
          <a:xfrm>
            <a:off x="3851909" y="3552234"/>
            <a:ext cx="211455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Load/performance report and coverage floor in CI.</a:t>
            </a:r>
          </a:p>
        </p:txBody>
      </p:sp>
      <p:sp>
        <p:nvSpPr>
          <p:cNvPr id="384" name="Shape 14"/>
          <p:cNvSpPr/>
          <p:nvPr/>
        </p:nvSpPr>
        <p:spPr>
          <a:xfrm>
            <a:off x="6423659" y="2331720"/>
            <a:ext cx="2571751" cy="1783080"/>
          </a:xfrm>
          <a:prstGeom prst="roundRect">
            <a:avLst>
              <a:gd name="adj" fmla="val 4103"/>
            </a:avLst>
          </a:prstGeom>
          <a:solidFill>
            <a:srgbClr val="19376D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Shape 15"/>
          <p:cNvSpPr/>
          <p:nvPr/>
        </p:nvSpPr>
        <p:spPr>
          <a:xfrm>
            <a:off x="6652259" y="2514599"/>
            <a:ext cx="274321" cy="2743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16"/>
          <p:cNvSpPr txBox="1"/>
          <p:nvPr/>
        </p:nvSpPr>
        <p:spPr>
          <a:xfrm>
            <a:off x="6652259" y="2562860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87" name="Text 17"/>
          <p:cNvSpPr txBox="1"/>
          <p:nvPr/>
        </p:nvSpPr>
        <p:spPr>
          <a:xfrm>
            <a:off x="6652259" y="3007360"/>
            <a:ext cx="211455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End-to-end tests</a:t>
            </a:r>
          </a:p>
        </p:txBody>
      </p:sp>
      <p:sp>
        <p:nvSpPr>
          <p:cNvPr id="388" name="Text 18"/>
          <p:cNvSpPr txBox="1"/>
          <p:nvPr/>
        </p:nvSpPr>
        <p:spPr>
          <a:xfrm>
            <a:off x="6652259" y="3552234"/>
            <a:ext cx="211455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Playwright journeys covering full UI flows.</a:t>
            </a:r>
          </a:p>
        </p:txBody>
      </p:sp>
      <p:sp>
        <p:nvSpPr>
          <p:cNvPr id="389" name="Shape 19"/>
          <p:cNvSpPr/>
          <p:nvPr/>
        </p:nvSpPr>
        <p:spPr>
          <a:xfrm>
            <a:off x="9224009" y="2331720"/>
            <a:ext cx="2571751" cy="1783080"/>
          </a:xfrm>
          <a:prstGeom prst="roundRect">
            <a:avLst>
              <a:gd name="adj" fmla="val 4103"/>
            </a:avLst>
          </a:prstGeom>
          <a:solidFill>
            <a:srgbClr val="19376D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Shape 20"/>
          <p:cNvSpPr/>
          <p:nvPr/>
        </p:nvSpPr>
        <p:spPr>
          <a:xfrm>
            <a:off x="9452609" y="2514599"/>
            <a:ext cx="274321" cy="2743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21"/>
          <p:cNvSpPr txBox="1"/>
          <p:nvPr/>
        </p:nvSpPr>
        <p:spPr>
          <a:xfrm>
            <a:off x="9452609" y="2562860"/>
            <a:ext cx="274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244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92" name="Text 22"/>
          <p:cNvSpPr txBox="1"/>
          <p:nvPr/>
        </p:nvSpPr>
        <p:spPr>
          <a:xfrm>
            <a:off x="9452609" y="3007360"/>
            <a:ext cx="211455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SecOps dashboard</a:t>
            </a:r>
          </a:p>
        </p:txBody>
      </p:sp>
      <p:sp>
        <p:nvSpPr>
          <p:cNvPr id="393" name="Text 23"/>
          <p:cNvSpPr txBox="1"/>
          <p:nvPr/>
        </p:nvSpPr>
        <p:spPr>
          <a:xfrm>
            <a:off x="9452609" y="3552234"/>
            <a:ext cx="211455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Centralized view of auth anomalies and audit spikes.</a:t>
            </a:r>
          </a:p>
        </p:txBody>
      </p:sp>
      <p:sp>
        <p:nvSpPr>
          <p:cNvPr id="394" name="Shape 24"/>
          <p:cNvSpPr/>
          <p:nvPr/>
        </p:nvSpPr>
        <p:spPr>
          <a:xfrm>
            <a:off x="822960" y="4571999"/>
            <a:ext cx="73153" cy="128016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25"/>
          <p:cNvSpPr txBox="1"/>
          <p:nvPr/>
        </p:nvSpPr>
        <p:spPr>
          <a:xfrm>
            <a:off x="1097279" y="4894580"/>
            <a:ext cx="1033272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full booking lifecycle with admin governance, auditable operations, and layered security — ready for incremental production hardening.</a:t>
            </a:r>
          </a:p>
        </p:txBody>
      </p:sp>
      <p:sp>
        <p:nvSpPr>
          <p:cNvPr id="396" name="Text 26"/>
          <p:cNvSpPr txBox="1"/>
          <p:nvPr/>
        </p:nvSpPr>
        <p:spPr>
          <a:xfrm>
            <a:off x="822960" y="6188709"/>
            <a:ext cx="10972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Thank you.   </a:t>
            </a:r>
            <a:r>
              <a:rPr b="0" i="1" sz="1400">
                <a:solidFill>
                  <a:srgbClr val="CBD5E1"/>
                </a:solidFill>
              </a:rPr>
              <a:t>Questions welcome.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